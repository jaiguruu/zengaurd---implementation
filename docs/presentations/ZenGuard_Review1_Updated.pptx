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Layouts/slideLayout2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metadata/core-properties" Target="docProps/core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1" r:id="rId3"/>
    <p:sldMasterId id="2147483652" r:id="rId4"/>
    <p:sldMasterId id="2147483654" r:id="rId5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81" r:id="rId20"/>
    <p:sldId id="274" r:id="rId21"/>
    <p:sldId id="289" r:id="rId22"/>
    <p:sldId id="270" r:id="rId23"/>
    <p:sldId id="275" r:id="rId24"/>
    <p:sldId id="278" r:id="rId25"/>
    <p:sldId id="280" r:id="rId26"/>
    <p:sldId id="287" r:id="rId27"/>
    <p:sldId id="277" r:id="rId28"/>
    <p:sldId id="276" r:id="rId29"/>
    <p:sldId id="288" r:id="rId30"/>
    <p:sldId id="286" r:id="rId31"/>
    <p:sldId id="271" r:id="rId32"/>
    <p:sldId id="272" r:id="rId33"/>
    <p:sldId id="273" r:id="rId3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66" autoAdjust="0"/>
    <p:restoredTop sz="94660"/>
  </p:normalViewPr>
  <p:slideViewPr>
    <p:cSldViewPr snapToGrid="0">
      <p:cViewPr varScale="1">
        <p:scale>
          <a:sx n="90" d="100"/>
          <a:sy n="90" d="100"/>
        </p:scale>
        <p:origin x="1101" y="4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theme" Target="theme/theme1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presProps" Target="presProps.xml"/><Relationship Id="rId8" Type="http://schemas.openxmlformats.org/officeDocument/2006/relationships/slide" Target="slides/slide3.xml"/><Relationship Id="rId3" Type="http://schemas.openxmlformats.org/officeDocument/2006/relationships/slideMaster" Target="slideMasters/slideMaster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BA4F69F-D805-4C05-8A09-D7714D7D8320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987E239-B04F-41E3-92D9-5A0A701D195D}" type="slidenum">
              <a:t>‹#›</a:t>
            </a:fld>
            <a:endParaRPr/>
          </a:p>
        </p:txBody>
      </p:sp>
      <p:sp>
        <p:nvSpPr>
          <p:cNvPr id="4" name="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theme" Target="../theme/theme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theme" Target="../theme/theme3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theme" Target="../theme/theme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02350E7-75C8-4AAB-890C-05EACB812CEA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D167AD89-EE33-4238-AF34-AE62AFFAE28F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9" name="Freeform 11"/>
              <p:cNvPicPr/>
              <p:nvPr/>
            </p:nvPicPr>
            <p:blipFill>
              <a:blip r:embed="rId4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0" name="Rectangle 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1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12" name="Freeform 12"/>
              <p:cNvPicPr/>
              <p:nvPr/>
            </p:nvPicPr>
            <p:blipFill>
              <a:blip r:embed="rId5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13" name="Rectangle 1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14" name="Picture 2"/>
          <p:cNvPicPr/>
          <p:nvPr/>
        </p:nvPicPr>
        <p:blipFill>
          <a:blip r:embed="rId6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1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1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19" name="Freeform 11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0" name="Rectangle 1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2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22" name="Freeform 12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23" name="Rectangle 2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24" name="Picture 2"/>
          <p:cNvPicPr/>
          <p:nvPr/>
        </p:nvPicPr>
        <p:blipFill>
          <a:blip r:embed="rId5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DBF5F9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Seventh Outline Level</a:t>
            </a:r>
          </a:p>
        </p:txBody>
      </p:sp>
      <p:sp>
        <p:nvSpPr>
          <p:cNvPr id="27" name="PlaceHolder 3"/>
          <p:cNvSpPr>
            <a:spLocks noGrp="1"/>
          </p:cNvSpPr>
          <p:nvPr>
            <p:ph type="dt" idx="4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E8DE5BB5-B05D-4A52-A316-A9FA361CA37F}" type="datetime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28" name="PlaceHolder 4"/>
          <p:cNvSpPr>
            <a:spLocks noGrp="1"/>
          </p:cNvSpPr>
          <p:nvPr>
            <p:ph type="ftr" idx="5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5"/>
          <p:cNvSpPr>
            <a:spLocks noGrp="1"/>
          </p:cNvSpPr>
          <p:nvPr>
            <p:ph type="sldNum" idx="6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C3D4FB4-586F-4609-ACF6-AA06A610DB3B}" type="slidenum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32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33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34" name="Freeform 11"/>
              <p:cNvPicPr/>
              <p:nvPr/>
            </p:nvPicPr>
            <p:blipFill>
              <a:blip r:embed="rId3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5" name="Rectangle 34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36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37" name="Freeform 12"/>
              <p:cNvPicPr/>
              <p:nvPr/>
            </p:nvPicPr>
            <p:blipFill>
              <a:blip r:embed="rId4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38" name="Rectangle 37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39" name="Picture 2"/>
          <p:cNvPicPr/>
          <p:nvPr/>
        </p:nvPicPr>
        <p:blipFill>
          <a:blip r:embed="rId5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DBF5F9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41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FFFFFF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FFFFFF"/>
                </a:solidFill>
                <a:latin typeface="Constantia"/>
              </a:rPr>
              <a:t>Seventh Outline Level</a:t>
            </a:r>
          </a:p>
        </p:txBody>
      </p:sp>
      <p:sp>
        <p:nvSpPr>
          <p:cNvPr id="42" name="PlaceHolder 3"/>
          <p:cNvSpPr>
            <a:spLocks noGrp="1"/>
          </p:cNvSpPr>
          <p:nvPr>
            <p:ph type="dt" idx="7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C0A49E9-B040-43C1-9B07-8946B9F58CDD}" type="datetime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 idx="8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 idx="9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D1EAEE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ED284CC-6246-4BF4-B2CA-E03A4CF47B49}" type="slidenum">
              <a:rPr lang="en-US" sz="1200" b="0" strike="noStrike" spc="-1">
                <a:solidFill>
                  <a:srgbClr val="D1EAEE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FFFFFF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3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Freeform 6"/>
          <p:cNvSpPr/>
          <p:nvPr/>
        </p:nvSpPr>
        <p:spPr>
          <a:xfrm>
            <a:off x="-9360" y="-792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Freeform 7"/>
          <p:cNvSpPr/>
          <p:nvPr/>
        </p:nvSpPr>
        <p:spPr>
          <a:xfrm>
            <a:off x="4381560" y="-792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0 h 638280"/>
              <a:gd name="textAreaBottom" fmla="*/ 63864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grpSp>
        <p:nvGrpSpPr>
          <p:cNvPr id="47" name="Group 1"/>
          <p:cNvGrpSpPr/>
          <p:nvPr/>
        </p:nvGrpSpPr>
        <p:grpSpPr>
          <a:xfrm>
            <a:off x="-19080" y="203040"/>
            <a:ext cx="9181080" cy="648000"/>
            <a:chOff x="-19080" y="203040"/>
            <a:chExt cx="9181080" cy="648000"/>
          </a:xfrm>
        </p:grpSpPr>
        <p:grpSp>
          <p:nvGrpSpPr>
            <p:cNvPr id="48" name="Freeform 11"/>
            <p:cNvGrpSpPr/>
            <p:nvPr/>
          </p:nvGrpSpPr>
          <p:grpSpPr>
            <a:xfrm>
              <a:off x="-19080" y="203040"/>
              <a:ext cx="9156600" cy="648000"/>
              <a:chOff x="-19080" y="203040"/>
              <a:chExt cx="9156600" cy="648000"/>
            </a:xfrm>
          </p:grpSpPr>
          <p:pic>
            <p:nvPicPr>
              <p:cNvPr id="49" name="Freeform 11"/>
              <p:cNvPicPr/>
              <p:nvPr/>
            </p:nvPicPr>
            <p:blipFill>
              <a:blip r:embed="rId4"/>
              <a:stretch/>
            </p:blipFill>
            <p:spPr>
              <a:xfrm>
                <a:off x="3960" y="203040"/>
                <a:ext cx="9133560" cy="6480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0" name="Rectangle 49"/>
              <p:cNvSpPr/>
              <p:nvPr/>
            </p:nvSpPr>
            <p:spPr>
              <a:xfrm rot="21435600">
                <a:off x="-18720" y="47880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  <p:grpSp>
          <p:nvGrpSpPr>
            <p:cNvPr id="51" name="Freeform 12"/>
            <p:cNvGrpSpPr/>
            <p:nvPr/>
          </p:nvGrpSpPr>
          <p:grpSpPr>
            <a:xfrm>
              <a:off x="-19080" y="248040"/>
              <a:ext cx="9181080" cy="561600"/>
              <a:chOff x="-19080" y="248040"/>
              <a:chExt cx="9181080" cy="561600"/>
            </a:xfrm>
          </p:grpSpPr>
          <p:pic>
            <p:nvPicPr>
              <p:cNvPr id="52" name="Freeform 12"/>
              <p:cNvPicPr/>
              <p:nvPr/>
            </p:nvPicPr>
            <p:blipFill>
              <a:blip r:embed="rId5"/>
              <a:stretch/>
            </p:blipFill>
            <p:spPr>
              <a:xfrm>
                <a:off x="-3240" y="248040"/>
                <a:ext cx="9165240" cy="561600"/>
              </a:xfrm>
              <a:prstGeom prst="rect">
                <a:avLst/>
              </a:prstGeom>
              <a:ln w="0">
                <a:noFill/>
              </a:ln>
            </p:spPr>
          </p:pic>
          <p:sp>
            <p:nvSpPr>
              <p:cNvPr id="53" name="Rectangle 52"/>
              <p:cNvSpPr/>
              <p:nvPr/>
            </p:nvSpPr>
            <p:spPr>
              <a:xfrm rot="21435600">
                <a:off x="-18720" y="524160"/>
                <a:ext cx="360" cy="360"/>
              </a:xfrm>
              <a:prstGeom prst="rect">
                <a:avLst/>
              </a:prstGeom>
              <a:noFill/>
              <a:ln w="0"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lIns="90000" tIns="-46440" rIns="90000" bIns="-46440" anchor="t">
                <a:noAutofit/>
              </a:bodyPr>
              <a:lstStyle/>
              <a:p>
                <a:endParaRPr lang="en-US" sz="1800" b="0" strike="noStrike" spc="-1">
                  <a:solidFill>
                    <a:srgbClr val="000000"/>
                  </a:solidFill>
                  <a:latin typeface="Calibri"/>
                </a:endParaRPr>
              </a:p>
            </p:txBody>
          </p:sp>
        </p:grpSp>
      </p:grpSp>
      <p:pic>
        <p:nvPicPr>
          <p:cNvPr id="54" name="Picture 2"/>
          <p:cNvPicPr/>
          <p:nvPr/>
        </p:nvPicPr>
        <p:blipFill>
          <a:blip r:embed="rId6"/>
          <a:stretch/>
        </p:blipFill>
        <p:spPr>
          <a:xfrm>
            <a:off x="76320" y="54000"/>
            <a:ext cx="1752480" cy="860400"/>
          </a:xfrm>
          <a:prstGeom prst="rect">
            <a:avLst/>
          </a:prstGeom>
          <a:ln w="0">
            <a:noFill/>
          </a:ln>
        </p:spPr>
      </p:pic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57" name="PlaceHolder 3"/>
          <p:cNvSpPr>
            <a:spLocks noGrp="1"/>
          </p:cNvSpPr>
          <p:nvPr>
            <p:ph type="dt" idx="10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56734D7-7682-4E31-92D4-FDE6834F795C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ftr" idx="11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sldNum" idx="12"/>
          </p:nvPr>
        </p:nvSpPr>
        <p:spPr>
          <a:xfrm>
            <a:off x="792432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978A4206-E2F4-45F2-910F-3F0A20DE1129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r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/75</a:t>
            </a:r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nip and Round Single Corner Rectangle 13"/>
          <p:cNvSpPr/>
          <p:nvPr/>
        </p:nvSpPr>
        <p:spPr>
          <a:xfrm rot="420000" flipV="1">
            <a:off x="3165480" y="1107000"/>
            <a:ext cx="5257800" cy="4114800"/>
          </a:xfrm>
          <a:custGeom>
            <a:avLst/>
            <a:gdLst/>
            <a:ahLst/>
            <a:cxnLst/>
            <a:rect l="l" t="t" r="r" b="b"/>
            <a:pathLst>
              <a:path w="5257800" h="4114800">
                <a:moveTo>
                  <a:pt x="0" y="0"/>
                </a:moveTo>
                <a:lnTo>
                  <a:pt x="5107774" y="0"/>
                </a:lnTo>
                <a:lnTo>
                  <a:pt x="5257800" y="150026"/>
                </a:lnTo>
                <a:lnTo>
                  <a:pt x="5257800" y="4114800"/>
                </a:lnTo>
                <a:lnTo>
                  <a:pt x="0" y="4114800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3240" cap="rnd">
            <a:solidFill>
              <a:srgbClr val="C0C0C0"/>
            </a:solidFill>
            <a:round/>
          </a:ln>
          <a:effectLst>
            <a:outerShdw dist="38546" dir="7483739" rotWithShape="0">
              <a:srgbClr val="000000">
                <a:alpha val="25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1" name="Right Triangle 2"/>
          <p:cNvSpPr/>
          <p:nvPr/>
        </p:nvSpPr>
        <p:spPr>
          <a:xfrm rot="420000" flipV="1">
            <a:off x="8003880" y="5358960"/>
            <a:ext cx="155520" cy="155520"/>
          </a:xfrm>
          <a:prstGeom prst="rtTriangle">
            <a:avLst/>
          </a:prstGeom>
          <a:solidFill>
            <a:srgbClr val="FFFFFF"/>
          </a:solidFill>
          <a:ln w="12600">
            <a:solidFill>
              <a:srgbClr val="FFFFFF"/>
            </a:solidFill>
            <a:bevel/>
          </a:ln>
          <a:effectLst>
            <a:outerShdw dist="6193" dir="12932261" rotWithShape="0">
              <a:srgbClr val="000000">
                <a:alpha val="47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3600" rIns="90000" bIns="36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2" name="Freeform 15"/>
          <p:cNvSpPr/>
          <p:nvPr/>
        </p:nvSpPr>
        <p:spPr>
          <a:xfrm flipV="1">
            <a:off x="-9000" y="5815440"/>
            <a:ext cx="9162720" cy="1041480"/>
          </a:xfrm>
          <a:custGeom>
            <a:avLst/>
            <a:gdLst>
              <a:gd name="textAreaLeft" fmla="*/ 0 w 9162720"/>
              <a:gd name="textAreaRight" fmla="*/ 9163080 w 9162720"/>
              <a:gd name="textAreaTop" fmla="*/ 0 h 1041480"/>
              <a:gd name="textAreaBottom" fmla="*/ 1041480 h 1041480"/>
            </a:gdLst>
            <a:ahLst/>
            <a:cxnLst/>
            <a:rect l="textAreaLeft" t="textAreaTop" r="textAreaRight" b="textAreaBottom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 rotWithShape="0">
            <a:gsLst>
              <a:gs pos="0">
                <a:srgbClr val="0079AF">
                  <a:alpha val="45098"/>
                </a:srgbClr>
              </a:gs>
              <a:gs pos="100000">
                <a:srgbClr val="00EBF8">
                  <a:alpha val="55294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3" name="Freeform 16"/>
          <p:cNvSpPr/>
          <p:nvPr/>
        </p:nvSpPr>
        <p:spPr>
          <a:xfrm flipV="1">
            <a:off x="4381560" y="6219000"/>
            <a:ext cx="4762440" cy="638280"/>
          </a:xfrm>
          <a:custGeom>
            <a:avLst/>
            <a:gdLst>
              <a:gd name="textAreaLeft" fmla="*/ 0 w 4762440"/>
              <a:gd name="textAreaRight" fmla="*/ 4762800 w 4762440"/>
              <a:gd name="textAreaTop" fmla="*/ -360 h 638280"/>
              <a:gd name="textAreaBottom" fmla="*/ 638280 h 638280"/>
            </a:gdLst>
            <a:ahLst/>
            <a:cxnLst/>
            <a:rect l="textAreaLeft" t="textAreaTop" r="textAreaRight" b="textAreaBottom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 rotWithShape="0">
            <a:gsLst>
              <a:gs pos="0">
                <a:srgbClr val="00ADB6">
                  <a:alpha val="45098"/>
                </a:srgbClr>
              </a:gs>
              <a:gs pos="100000">
                <a:srgbClr val="009BE5">
                  <a:alpha val="30196"/>
                </a:srgbClr>
              </a:gs>
            </a:gsLst>
            <a:lin ang="5400000"/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457200" y="7045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0" tIns="46800" rIns="0" bIns="0" anchor="b">
            <a:noAutofit/>
          </a:bodyPr>
          <a:lstStyle/>
          <a:p>
            <a:pPr indent="0"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5000" b="0" strike="noStrike" spc="-1">
                <a:solidFill>
                  <a:srgbClr val="04617B"/>
                </a:solidFill>
                <a:latin typeface="Calibri"/>
              </a:rPr>
              <a:t>Click to edit the title text format</a:t>
            </a: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457200" y="1934640"/>
            <a:ext cx="8229600" cy="4389480"/>
          </a:xfrm>
          <a:prstGeom prst="rect">
            <a:avLst/>
          </a:prstGeom>
          <a:noFill/>
          <a:ln w="0">
            <a:noFill/>
          </a:ln>
        </p:spPr>
        <p:txBody>
          <a:bodyPr lIns="90000" tIns="46800" rIns="90000" bIns="46800" anchor="t">
            <a:normAutofit/>
          </a:bodyPr>
          <a:lstStyle/>
          <a:p>
            <a:pPr marL="272880" indent="-272880">
              <a:spcBef>
                <a:spcPts val="649"/>
              </a:spcBef>
              <a:buClr>
                <a:srgbClr val="0BD0D9"/>
              </a:buClr>
              <a:buSzPct val="9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Click to edit the outline text format</a:t>
            </a:r>
          </a:p>
          <a:p>
            <a:pPr marL="639720" lvl="1" indent="-245880">
              <a:spcBef>
                <a:spcPts val="649"/>
              </a:spcBef>
              <a:buClr>
                <a:srgbClr val="0F6FC6"/>
              </a:buClr>
              <a:buSzPct val="8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Second Outline Level</a:t>
            </a:r>
          </a:p>
          <a:p>
            <a:pPr marL="914400" lvl="2" indent="-246240">
              <a:spcBef>
                <a:spcPts val="649"/>
              </a:spcBef>
              <a:buClr>
                <a:srgbClr val="009DD9"/>
              </a:buClr>
              <a:buSzPct val="70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Third Outline Level</a:t>
            </a:r>
          </a:p>
          <a:p>
            <a:pPr marL="1187280" lvl="3" indent="-209520">
              <a:spcBef>
                <a:spcPts val="649"/>
              </a:spcBef>
              <a:buClr>
                <a:srgbClr val="0BD0D9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Fourth Outline Level</a:t>
            </a:r>
          </a:p>
          <a:p>
            <a:pPr marL="1461960" lvl="4" indent="-209520">
              <a:spcBef>
                <a:spcPts val="649"/>
              </a:spcBef>
              <a:buClr>
                <a:srgbClr val="10CF9B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Fifth Outline Level</a:t>
            </a:r>
          </a:p>
          <a:p>
            <a:pPr marL="1461960" lvl="5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Sixth Outline Level</a:t>
            </a:r>
          </a:p>
          <a:p>
            <a:pPr marL="1461960" lvl="6" indent="-209520">
              <a:spcBef>
                <a:spcPts val="649"/>
              </a:spcBef>
              <a:buClr>
                <a:srgbClr val="000000"/>
              </a:buClr>
              <a:buSzPct val="65000"/>
              <a:buFont typeface="Wingdings 2" charset="2"/>
              <a:buChar char=""/>
              <a:tabLst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</a:pPr>
            <a:r>
              <a:rPr lang="en-US" sz="2600" b="0" strike="noStrike" spc="-1">
                <a:solidFill>
                  <a:srgbClr val="000000"/>
                </a:solidFill>
                <a:latin typeface="Constantia"/>
              </a:rPr>
              <a:t>Seventh Outline Level</a:t>
            </a:r>
          </a:p>
        </p:txBody>
      </p:sp>
      <p:sp>
        <p:nvSpPr>
          <p:cNvPr id="66" name="PlaceHolder 3"/>
          <p:cNvSpPr>
            <a:spLocks noGrp="1"/>
          </p:cNvSpPr>
          <p:nvPr>
            <p:ph type="dt" idx="13"/>
          </p:nvPr>
        </p:nvSpPr>
        <p:spPr>
          <a:xfrm>
            <a:off x="45684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6D8F7CDF-46D0-4373-B16B-0605532C903F}" type="datetime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ftr" idx="14"/>
          </p:nvPr>
        </p:nvSpPr>
        <p:spPr>
          <a:xfrm>
            <a:off x="2666880" y="6356520"/>
            <a:ext cx="335304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/>
          <a:p>
            <a:pPr indent="0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sldNum" idx="15"/>
          </p:nvPr>
        </p:nvSpPr>
        <p:spPr>
          <a:xfrm>
            <a:off x="8076960" y="6356520"/>
            <a:ext cx="609480" cy="365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lang="en-US" sz="1200" b="0" strike="noStrike" spc="-1">
                <a:solidFill>
                  <a:srgbClr val="045C75"/>
                </a:solidFill>
                <a:latin typeface="Times New Roman"/>
              </a:defRPr>
            </a:lvl1pPr>
          </a:lstStyle>
          <a:p>
            <a:pPr indent="0" algn="r">
              <a:buNone/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7A85D360-45D3-40C6-85A5-AC515F6360F4}" type="slidenum">
              <a:rPr lang="en-US" sz="1200" b="0" strike="noStrike" spc="-1">
                <a:solidFill>
                  <a:srgbClr val="045C75"/>
                </a:solidFill>
                <a:latin typeface="Times New Roman"/>
              </a:rPr>
              <a:t>‹#›</a:t>
            </a:fld>
            <a:endParaRPr lang="en-US" sz="1200" b="0" strike="noStrike" spc="-1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Text Box 1"/>
          <p:cNvSpPr/>
          <p:nvPr/>
        </p:nvSpPr>
        <p:spPr>
          <a:xfrm>
            <a:off x="762120" y="1143000"/>
            <a:ext cx="7772400" cy="29289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ZenGuard</a:t>
            </a: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– A Zero Trust,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ML-Driven SIEM–SOAR–UEBA Framework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  <a:p>
            <a:pPr algn="ctr">
              <a:lnSpc>
                <a:spcPct val="100000"/>
              </a:lnSpc>
              <a:tabLst>
                <a:tab pos="0" algn="l"/>
                <a:tab pos="447840" algn="l"/>
                <a:tab pos="896760" algn="l"/>
                <a:tab pos="1346040" algn="l"/>
                <a:tab pos="1795320" algn="l"/>
                <a:tab pos="2244600" algn="l"/>
                <a:tab pos="2693880" algn="l"/>
                <a:tab pos="3143160" algn="l"/>
                <a:tab pos="3592440" algn="l"/>
                <a:tab pos="4041720" algn="l"/>
                <a:tab pos="4491000" algn="l"/>
                <a:tab pos="4940280" algn="l"/>
                <a:tab pos="5389560" algn="l"/>
                <a:tab pos="5838840" algn="l"/>
                <a:tab pos="6288120" algn="l"/>
                <a:tab pos="6737400" algn="l"/>
                <a:tab pos="7186680" algn="l"/>
                <a:tab pos="7635960" algn="l"/>
                <a:tab pos="8085240" algn="l"/>
                <a:tab pos="8534520" algn="l"/>
                <a:tab pos="8983800" algn="l"/>
                <a:tab pos="9144000" algn="l"/>
                <a:tab pos="9601200" algn="l"/>
                <a:tab pos="10058400" algn="l"/>
                <a:tab pos="10515600" algn="l"/>
              </a:tabLst>
            </a:pPr>
            <a:r>
              <a:rPr lang="en-US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Mini Project Review – I</a:t>
            </a:r>
            <a:r>
              <a:rPr lang="de-DE" sz="4000" b="1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</a:t>
            </a:r>
            <a:endParaRPr lang="en-US" sz="4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0" name="TextBox 4"/>
          <p:cNvSpPr/>
          <p:nvPr/>
        </p:nvSpPr>
        <p:spPr>
          <a:xfrm>
            <a:off x="152280" y="5602320"/>
            <a:ext cx="2629020" cy="64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90000" tIns="46800" rIns="90000" bIns="46800" anchor="t">
            <a:spAutoFit/>
          </a:bodyPr>
          <a:lstStyle/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Guide:		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Dr. Rajakumaran M</a:t>
            </a: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1" name="TextBox 5"/>
          <p:cNvSpPr/>
          <p:nvPr/>
        </p:nvSpPr>
        <p:spPr>
          <a:xfrm>
            <a:off x="4343400" y="5277519"/>
            <a:ext cx="4343400" cy="341850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spAutoFit/>
          </a:bodyPr>
          <a:lstStyle/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z="1800" b="0" strike="noStrike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Gokulakannan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Times New Roman"/>
              </a:rPr>
              <a:t> B S – 127003077</a:t>
            </a: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Pranav Jai S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Times New Roman"/>
              </a:rPr>
              <a:t>S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 - 127003193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Times New Roman"/>
              </a:rPr>
              <a:t>Harish Siddartha R - 127158018</a:t>
            </a: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Times New Roman"/>
              <a:ea typeface="Times New Roman"/>
            </a:endParaRPr>
          </a:p>
          <a:p>
            <a:pPr algn="r">
              <a:lnSpc>
                <a:spcPct val="100000"/>
              </a:lnSpc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 algn="r"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endParaRPr lang="en-US" sz="18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2" name="Date Placeholder 5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BAE22DC7-57E0-40B2-89F7-5CFD23DECD45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3" name="Slide Number Placeholder 6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fld id="{29F8BEBC-D8A4-47CD-BDF2-B55D7ED02D49}" type="slidenum">
              <a:rPr lang="en-US" sz="1200" b="0" strike="noStrike" spc="-1">
                <a:solidFill>
                  <a:srgbClr val="045C75"/>
                </a:solidFill>
                <a:latin typeface="Calibri"/>
              </a:rPr>
              <a:t>1</a:t>
            </a:fld>
            <a:endParaRPr lang="en-US" sz="1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762000"/>
            <a:ext cx="8685240" cy="685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600" b="0" strike="noStrike" spc="-1">
                <a:solidFill>
                  <a:srgbClr val="000000"/>
                </a:solidFill>
                <a:latin typeface="Times New Roman"/>
              </a:rPr>
              <a:t>Layout of this Presentation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Abstract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Motivation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Objective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Base Paper Details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Problem Statement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Modules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Dataset Description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Work Flow Diagram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Architecture Diagram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Work Plan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Results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Conclusion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Abstract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Perimeter-based security models fail against insider misuse, lateral movement, and Advanced Persistent Threats (APTs), necessitating a continuous Zero Trust enforcement paradigm.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unifies SIEM log aggregation, Isolation Forest-based UEBA, and adaptive SOAR playbooks into a vendor-neutral, open-source Zero Trust automation framework.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Anomaly-driven risk scores dynamically trigger MFA enforcement, endpoint isolation, IP blocking, and privilege revocation across identity, device, and network control planes.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Evaluation on CERT v6.2, LANL, UNSW-NB15, and CICIDS2017 benchmarks demonstrates sub-10-second MTTR and lower false positive rates over static SIEM-SOAR pipelines.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The framework delivers a scalable, explainable, and NIST SP 800-207-compliant Zero Trust automation platform suitable for modern enterprise SOC deployments.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3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Motivation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Enterprise networks are increasingly exposed to insider misuse, lateral movement, and supply chain-based APTs that evade conventional perimeter defences.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SIEM platforms produce high-volume, low-context alerts, causing alert fatigue and hindering timely incident response within Security Operations Centers (SOCs).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Rule-based SOAR playbooks cannot adapt to evolving behavioral anomalies or enforce Zero Trust dynamically, leaving critical gaps in automated remediation.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A unified, ML-driven security framework is needed to continuously monitor user and entity behavior, enforce contextual trust decisions in real time, and automate incident response without manual SOC intervention.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bridges this gap by combining SIEM log aggregation, Isolation Forest-based UEBA, and adaptive SOAR into a cohesive, vendor-neutral Zero Trust automation platform aligned with NIST SP 800-207.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4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Objective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design and implement a unified Zero Trust framework that integrates SIEM log aggregation, ML-based UEBA, and adaptive SOAR playbooks into a single vendor-neutral platform.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apply Isolation Forest-based anomaly detection for real-time behavioral risk scoring across user, device, and network activity layers.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implement Python-based SOAR playbooks for automated enforcement actions — MFA challenges, endpoint isolation, IP blocking, and privilege revocation.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validate the framework using publicly available benchmark datasets (CERT v6.2, LANL, UNSW-NB15, CICIDS2017) and custom synthetic SIEM log data.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To achieve sub-10-second Mean Time to Respond (MTTR) and demonstrate reduced false positive rates relative to conventional static SIEM-SOAR deployments.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5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Base Paper Details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Hassan, A., Rauf, A., Shafqat, N., Latif, R., &amp; Khan, H. (2025). </a:t>
            </a: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</a:rPr>
              <a:t>ZenGuard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: A machine learning-based Zero Trust framework for context-aware threat mitigation using SIEM, SOAR, and UEBA. Scientific Reports, 15, 35871.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Base Paper Link: https://doi.org/10.1038/s41598-025-20998-4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Indexed in: Scopus and Web of Science (SCI Expanded)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Year of Journal Base Paper Publication: 2025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6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Problem Statement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Modern enterprise environments face advanced threats — insider misuse, lateral movement, and supply chain APTs — that routinely bypass conventional perimeter-based security models.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Existing SIEM and SOAR solutions operate in silos, relying on static rule-based playbooks with limited behavioral context, leading to high false-positive rates and delayed response.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There is a critical gap in ML-driven frameworks that unify continuous behavioral monitoring, context-aware Zero Trust enforcement, and automated remediation within a vendor-neutral, open-source architecture.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800" b="0" strike="noStrike" spc="-1">
                <a:solidFill>
                  <a:srgbClr val="000000"/>
                </a:solidFill>
                <a:latin typeface="Times New Roman"/>
              </a:rPr>
              <a:t>ZenGuard addresses this gap by integrating Isolation Forest-based UEBA with adaptive Python SOAR playbooks, delivering real-time, risk-aware Zero Trust enforcement compliant with NIST SP 800-207.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7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0" name="LitTable"/>
          <p:cNvGraphicFramePr/>
          <p:nvPr>
            <p:extLst>
              <p:ext uri="{D42A27DB-BD31-4B8C-83A1-F6EECF244321}">
                <p14:modId xmlns:p14="http://schemas.microsoft.com/office/powerpoint/2010/main" val="500109128"/>
              </p:ext>
            </p:extLst>
          </p:nvPr>
        </p:nvGraphicFramePr>
        <p:xfrm>
          <a:off x="318809" y="1196563"/>
          <a:ext cx="8685240" cy="49333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98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48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47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046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0467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464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47475">
                <a:tc>
                  <a:txBody>
                    <a:bodyPr/>
                    <a:lstStyle/>
                    <a:p>
                      <a:r>
                        <a:rPr lang="en-US" sz="12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Focus of the Paper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Drawbacks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Palo Alto Networks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Zero Trust Security Model (Whitepaper)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vendor framework: micro-segmentation, least-privilege access, API-first deployment strategies.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Vendor-specific; lacks open, ML-driven automation frameworks.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Vendor-neutral, API-first architectures address interoperability gaps.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2025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ResearchGate Preprint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ML in SIEM: Survey on Intelligent Event Correlation &amp; Anomaly Detection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ML techniques in SIEM: event correlation, anomaly detection algorithms, and alert prioritization.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No Zero Trust enforcement or adaptive SOAR automation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Gap exists in converting ML-based SIEM insights into real-time enforcement.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2021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 err="1">
                          <a:solidFill>
                            <a:srgbClr val="000000"/>
                          </a:solidFill>
                          <a:latin typeface="Calibri"/>
                        </a:rPr>
                        <a:t>arXiv</a:t>
                      </a:r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 Survey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Architecture: A Comprehensive Survey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Survey of ZTA models, architectural components (PEP, PDP), and enterprise deployment strategies.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Emphasizes theory; lacks ML-based behavioral scoring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Scope exists to integrate Zero Trust with explainable UEBA and SOAR playbooks.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46465"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Computers &amp; Security, Elsevier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Reducing Risk of Social Engineering Attacks Using SOAR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SOAR automation for mitigating social engineering and phishing; playbook-driven response evaluation.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Uses static playbooks without context-aware behavioral risk scoring.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2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Adaptive, ML-informed playbooks improve contextual response precision.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8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Literature Survey</a:t>
            </a:r>
          </a:p>
        </p:txBody>
      </p:sp>
      <p:graphicFrame>
        <p:nvGraphicFramePr>
          <p:cNvPr id="30" name="LitTable"/>
          <p:cNvGraphicFramePr/>
          <p:nvPr>
            <p:extLst>
              <p:ext uri="{D42A27DB-BD31-4B8C-83A1-F6EECF244321}">
                <p14:modId xmlns:p14="http://schemas.microsoft.com/office/powerpoint/2010/main" val="3364706523"/>
              </p:ext>
            </p:extLst>
          </p:nvPr>
        </p:nvGraphicFramePr>
        <p:xfrm>
          <a:off x="457200" y="1301545"/>
          <a:ext cx="8407321" cy="51164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66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6304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692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4692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873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4926"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Year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Author(s)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Title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Focus of the Paper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Drawbacks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Inference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56566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Theseus Repository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Adoption of SOC Services to Global IT Service Portfolio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Operational integration of SOC services, MSSP models, and automation within global enterprise IT portfolios.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Focuses on service integration rather than behavioral anomaly detection.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Combining SOC models with ML-driven UEBA enhances Zero Trust compliance.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66851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2024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JoCES Journal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Developing a Comprehensive Framework for UEBA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Structured UEBA framework using contextual ML (clustering, regression) for behavioral anomaly detection.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Limited discussion on SIEM-SOAR orchestration and enforcement workflows.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Unified UEBA + SIEM + automated response architecture bridges this gap.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56566"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2023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JSCAI Journal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UEBA for SIEM Systems: Preprocessing of CERT Dataset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Preprocessing and feature engineering on CERT dataset for UEBA-SIEM behavioral log integration.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Focuses on data preparation rather than adaptive SOAR enforcement.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r>
                        <a:rPr lang="en-US" sz="14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Real-time anomaly scoring must couple with automated remediation for Zero Trust.</a:t>
                      </a:r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9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Modules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1: SIEM - Log Aggregation &amp; Feature Preparation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Collect and normalize logs from SIEM sources (firewalls, IDS, EDR, IdP).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Extract behavioral features: session duration, failed logins, privilege changes for UEBA.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2: UEBA - Anomaly Detection &amp; Zero Trust Risk Scoring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Apply Isolation Forest for behavioral anomaly detection.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Convert anomaly scores into risk levels triggering MFA enforcement and device compliance checks.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1" strike="noStrike" spc="-1" dirty="0">
                <a:solidFill>
                  <a:srgbClr val="000000"/>
                </a:solidFill>
                <a:latin typeface="Times New Roman"/>
              </a:rPr>
              <a:t>Module 3: SOAR - Automated Response &amp; Enforcement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Execute adaptive Python-based playbooks for IP blocking, endpoint isolation, privilege revocation.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– Log actions in SIEM and display structured risk insights via the dashboard.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10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Dataset Description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Public Benchmark Datasets: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CERT Insider Threat Dataset (v6.2): ~32,770 records, 40+ features; insider misuse behavior modeling.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LANL Authentication Dataset: ~1.05 billion events, 5 features; user login and authentication analysis.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UNSW-NB15 Dataset: 2.54 million records, 49 features; network intrusion and attack traffic patterns.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CICIDS2017 Dataset: ~2.8 million records, 78 features; DDoS and multi-vector cyberattack scenarios.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Enterprise SIEM Log Dataset: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Anonymized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imes New Roman"/>
              </a:rPr>
              <a:t>QRadar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logs: 1M+ events/hour; 22 normalized features; simulates real-world SOC operations.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Synthetic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Behavioural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 Dataset: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Custom enterprise session logs: ~10,000 records, 8 behavioral features (session duration, failed logins, privilege changes, MFA bypass, device trust score, etc.).</a:t>
            </a:r>
          </a:p>
          <a:p>
            <a:pPr marL="685800" indent="0">
              <a:lnSpc>
                <a:spcPct val="1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 – 80/20 train-validation split; 15% anomaly injection ratio for UEBA model evaluation.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11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>
                <a:solidFill>
                  <a:srgbClr val="000000"/>
                </a:solidFill>
                <a:latin typeface="Times New Roman"/>
              </a:rPr>
              <a:t>Work Flow Diagram</a:t>
            </a:r>
          </a:p>
        </p:txBody>
      </p:sp>
      <p:pic>
        <p:nvPicPr>
          <p:cNvPr id="40" name="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457200" y="1158720"/>
            <a:ext cx="8407320" cy="5029200"/>
          </a:xfrm>
          <a:prstGeom prst="rect">
            <a:avLst/>
          </a:prstGeom>
        </p:spPr>
      </p:pic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20287" y="477794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Architecture Diagram</a:t>
            </a:r>
          </a:p>
        </p:txBody>
      </p:sp>
      <p:pic>
        <p:nvPicPr>
          <p:cNvPr id="40" name="Diagram"/>
          <p:cNvPicPr/>
          <p:nvPr/>
        </p:nvPicPr>
        <p:blipFill>
          <a:blip r:embed="rId2"/>
          <a:stretch>
            <a:fillRect/>
          </a:stretch>
        </p:blipFill>
        <p:spPr>
          <a:xfrm>
            <a:off x="288743" y="1239794"/>
            <a:ext cx="8589786" cy="5029200"/>
          </a:xfrm>
          <a:prstGeom prst="rect">
            <a:avLst/>
          </a:prstGeom>
        </p:spPr>
      </p:pic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13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399900" y="53674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Work Plan – First Review</a:t>
            </a:r>
          </a:p>
        </p:txBody>
      </p:sp>
      <p:graphicFrame>
        <p:nvGraphicFramePr>
          <p:cNvPr id="30" name="WorkPlanTable"/>
          <p:cNvGraphicFramePr/>
          <p:nvPr>
            <p:extLst>
              <p:ext uri="{D42A27DB-BD31-4B8C-83A1-F6EECF244321}">
                <p14:modId xmlns:p14="http://schemas.microsoft.com/office/powerpoint/2010/main" val="4127624531"/>
              </p:ext>
            </p:extLst>
          </p:nvPr>
        </p:nvGraphicFramePr>
        <p:xfrm>
          <a:off x="399900" y="1334000"/>
          <a:ext cx="8244000" cy="4604684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105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34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27506">
                <a:tc>
                  <a:txBody>
                    <a:bodyPr/>
                    <a:lstStyle/>
                    <a:p>
                      <a:pPr algn="ctr"/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Review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Activity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Gokulakannan B 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>
                          <a:solidFill>
                            <a:srgbClr val="FFFFFF"/>
                          </a:solidFill>
                          <a:latin typeface="Calibri"/>
                        </a:rPr>
                        <a:t>Pranav Jai S S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strike="noStrike" dirty="0">
                          <a:solidFill>
                            <a:srgbClr val="FFFFFF"/>
                          </a:solidFill>
                          <a:latin typeface="Calibri"/>
                        </a:rPr>
                        <a:t>Harish Siddartha R</a:t>
                      </a:r>
                    </a:p>
                  </a:txBody>
                  <a:tcPr>
                    <a:solidFill>
                      <a:srgbClr val="1F5C8B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0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Literature Review &amp; Dataset Collection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D5E8D4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SIEM Log Aggregation &amp; Feature Engineering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Isolation Forest UEBA Implementation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1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SOAR Playbook Development &amp; Integration</a:t>
                      </a: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b="0" strike="noStrike" dirty="0">
                          <a:solidFill>
                            <a:srgbClr val="000000"/>
                          </a:solidFill>
                          <a:latin typeface="Calibri"/>
                        </a:rPr>
                        <a:t>✓</a:t>
                      </a:r>
                      <a:endParaRPr lang="en-US" sz="2400" b="0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lang="en-US" sz="1600" b="0" strike="noStrike" dirty="0">
                        <a:solidFill>
                          <a:srgbClr val="000000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AED6F1"/>
                    </a:solidFill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Model Evaluation &amp; Benchmark Comparison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MTTR Analysis &amp; False Positive Rate Reduction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82454"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Review 2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strike="noStrike">
                          <a:solidFill>
                            <a:srgbClr val="000000"/>
                          </a:solidFill>
                          <a:latin typeface="Calibri"/>
                        </a:rPr>
                        <a:t>Zero Trust Dashboard Visualization &amp; Reporting</a:t>
                      </a:r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/>
                    </a:p>
                  </a:txBody>
                  <a:tcPr>
                    <a:noFill/>
                  </a:tcPr>
                  <a:extLst/>
                </a:tc>
                <a:tc>
                  <a:txBody>
                    <a:bodyPr/>
                    <a:lstStyle/>
                    <a:p>
                      <a:pPr algn="ctr"/>
                      <a:endParaRPr sz="2400" dirty="0"/>
                    </a:p>
                  </a:txBody>
                  <a:tcPr>
                    <a:noFill/>
                  </a:tcPr>
                  <a:extLst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14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366823" y="6945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Zen Guard Flow – Zoomed In</a:t>
            </a:r>
          </a:p>
        </p:txBody>
      </p:sp>
      <p:sp>
        <p:nvSpPr>
          <p:cNvPr id="11" name="Content"/>
          <p:cNvSpPr/>
          <p:nvPr/>
        </p:nvSpPr>
        <p:spPr>
          <a:xfrm>
            <a:off x="281764" y="145652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900" b="1" spc="-1" dirty="0">
                <a:solidFill>
                  <a:srgbClr val="045C75"/>
                </a:solidFill>
                <a:latin typeface="Times New Roman"/>
              </a:rPr>
              <a:t>Architectural Decision Records</a:t>
            </a:r>
            <a:r>
              <a:rPr lang="en-US" sz="1900" b="1" strike="noStrike" spc="-1" dirty="0">
                <a:solidFill>
                  <a:srgbClr val="045C75"/>
                </a:solidFill>
                <a:latin typeface="Times New Roman"/>
              </a:rPr>
              <a:t>: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Raw Logs  →  Feature Extraction  →  Preprocessing  →  Isolation Forest  →  Anomaly Score  →  Risk Mapping  →  SOAR Trigger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700" b="1" strike="noStrike" spc="-1" dirty="0">
                <a:solidFill>
                  <a:srgbClr val="000000"/>
                </a:solidFill>
                <a:latin typeface="Times New Roman"/>
              </a:rPr>
              <a:t>Stage Details: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Raw Logs: SIEM-normalized events (firewalls, IDS, IdP, EDR) forwarded to UEBA listener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Feature Extraction: 7 behavioral features extracted per user session (see Feature Engineering slide)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Preprocessing: Imputation (median) + StandardScaler applied via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imes New Roman"/>
              </a:rPr>
              <a:t>sklearn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Pipeline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Why Isolation Forest: unsupervised anomaly detection, no label of </a:t>
            </a:r>
            <a:r>
              <a:rPr lang="en-US" sz="1600" b="0" strike="noStrike" spc="-1" dirty="0" err="1">
                <a:solidFill>
                  <a:srgbClr val="000000"/>
                </a:solidFill>
                <a:latin typeface="Times New Roman"/>
              </a:rPr>
              <a:t>malacious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attack, fast 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Anomaly Score: decision_function() output; negative = anomalous, threshold at 0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endParaRPr lang="en-US" sz="1600" b="0" strike="noStrike" spc="-1" dirty="0">
              <a:solidFill>
                <a:srgbClr val="000000"/>
              </a:solidFill>
              <a:latin typeface="Times New Roman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Risk Mapping: </a:t>
            </a:r>
          </a:p>
          <a:p>
            <a:pPr marL="798480" lvl="1" indent="-339840">
              <a:buClr>
                <a:srgbClr val="000000"/>
              </a:buClr>
              <a:buFont typeface="Arial"/>
              <a:buChar char="•"/>
            </a:pPr>
            <a:r>
              <a:rPr lang="en-IN" sz="1600" dirty="0" err="1"/>
              <a:t>normalized_score</a:t>
            </a:r>
            <a:r>
              <a:rPr lang="en-IN" sz="1600" dirty="0"/>
              <a:t> = (</a:t>
            </a:r>
            <a:r>
              <a:rPr lang="en-IN" sz="1600" dirty="0" err="1"/>
              <a:t>raw_score</a:t>
            </a:r>
            <a:r>
              <a:rPr lang="en-IN" sz="1600" dirty="0"/>
              <a:t> - </a:t>
            </a:r>
            <a:r>
              <a:rPr lang="en-IN" sz="1600" dirty="0" err="1"/>
              <a:t>min_score</a:t>
            </a:r>
            <a:r>
              <a:rPr lang="en-IN" sz="1600" dirty="0"/>
              <a:t>) / (</a:t>
            </a:r>
            <a:r>
              <a:rPr lang="en-IN" sz="1600" dirty="0" err="1"/>
              <a:t>max_score</a:t>
            </a:r>
            <a:r>
              <a:rPr lang="en-IN" sz="1600" dirty="0"/>
              <a:t> - </a:t>
            </a:r>
            <a:r>
              <a:rPr lang="en-IN" sz="1600" dirty="0" err="1"/>
              <a:t>min_score</a:t>
            </a:r>
            <a:r>
              <a:rPr lang="en-IN" sz="1600" dirty="0"/>
              <a:t>)</a:t>
            </a:r>
          </a:p>
          <a:p>
            <a:pPr marL="798480" lvl="1" indent="-339840">
              <a:buClr>
                <a:srgbClr val="000000"/>
              </a:buClr>
              <a:buFont typeface="Arial"/>
              <a:buChar char="•"/>
            </a:pPr>
            <a:r>
              <a:rPr lang="en-IN" sz="1600" dirty="0" err="1"/>
              <a:t>risk_score</a:t>
            </a:r>
            <a:r>
              <a:rPr lang="en-IN" sz="1600" dirty="0"/>
              <a:t> = (1 - </a:t>
            </a:r>
            <a:r>
              <a:rPr lang="en-IN" sz="1600" dirty="0" err="1"/>
              <a:t>normalized_score</a:t>
            </a:r>
            <a:r>
              <a:rPr lang="en-IN" sz="1600" dirty="0"/>
              <a:t>) * 100</a:t>
            </a:r>
          </a:p>
          <a:p>
            <a:pPr marL="798480" lvl="1" indent="-339840">
              <a:buClr>
                <a:srgbClr val="000000"/>
              </a:buClr>
              <a:buFont typeface="Arial"/>
              <a:buChar char="•"/>
            </a:pPr>
            <a:endParaRPr lang="en-US" sz="1600" spc="-1" dirty="0">
              <a:solidFill>
                <a:srgbClr val="000000"/>
              </a:solidFill>
              <a:latin typeface="Times New Roman"/>
            </a:endParaRP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SOAR Trigger: Risk &gt; 95 events dispatch IP block / MFA / endpoint isolation playbooks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15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D5DE05-183E-C114-EBB6-904FDABBEC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45DC5653-B84E-0882-6989-9BAC567D904E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SIEM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F2CCBF2F-BE1B-86F7-EF6E-8190D8FED60E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60667B26-16EA-A916-CA44-99960B92D465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16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F8AB73C-C679-6C6F-6143-F4C9DFFD03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0537" r="13334"/>
          <a:stretch>
            <a:fillRect/>
          </a:stretch>
        </p:blipFill>
        <p:spPr>
          <a:xfrm>
            <a:off x="624347" y="1094026"/>
            <a:ext cx="8062453" cy="5367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47873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– SIEM Analysis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Log Ingestion — Dual Dataset Pipeline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</a:rPr>
              <a:t>CICIDS2017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~2.8M records, 78 features; DDoS, PortScan, web attack traffic patterns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</a:rPr>
              <a:t>UNSW-NB15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2.54M records, 49 features; network intrusions, fuzzing, reconnaissance</a:t>
            </a:r>
          </a:p>
          <a:p>
            <a:pPr algn="l">
              <a:lnSpc>
                <a:spcPct val="80000"/>
              </a:lnSpc>
              <a:buNone/>
            </a:pPr>
            <a:endParaRPr lang="en-US" sz="14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Normalization — Common SIEM Event Format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Each row mapped to unified schema: timestamp, src_ip, dst_ip, protocol, bytes, label, severity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Dataset-specific columns aliased to common fields; heterogeneous sources treated uniformly</a:t>
            </a:r>
          </a:p>
          <a:p>
            <a:pPr algn="l">
              <a:lnSpc>
                <a:spcPct val="80000"/>
              </a:lnSpc>
              <a:buNone/>
            </a:pPr>
            <a:endParaRPr lang="en-US" sz="14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Severity Tagging — Rule-Based Classification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CC2200"/>
                </a:solidFill>
                <a:latin typeface="Times New Roman"/>
              </a:rPr>
              <a:t>HIGH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label is attack AND (bytes &gt; threshold OR known attack type: DDoS, PortScan, Exploit)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D4820A"/>
                </a:solidFill>
                <a:latin typeface="Times New Roman"/>
              </a:rPr>
              <a:t>MEDIUM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label is attack but below high threshold; </a:t>
            </a:r>
            <a:r>
              <a:rPr lang="en-US" sz="1600" b="1" strike="noStrike" spc="-1" dirty="0">
                <a:solidFill>
                  <a:srgbClr val="007A3D"/>
                </a:solidFill>
                <a:latin typeface="Times New Roman"/>
              </a:rPr>
              <a:t>LOW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label is BENIGN</a:t>
            </a:r>
          </a:p>
          <a:p>
            <a:pPr algn="l">
              <a:lnSpc>
                <a:spcPct val="80000"/>
              </a:lnSpc>
              <a:buNone/>
            </a:pPr>
            <a:endParaRPr lang="en-US" sz="14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Dashboard &amp; Live Feed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Dashboard KPIs computed per batch: total events, high/medium/low counts, attack ratio, top source IPs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UEBA fields derived per event: failed_logins, session_duration, privilege_change_attempted, MFA_bypassed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Frontend refreshes every 2 seconds — simulates live SOC monitoring with streaming event feed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17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UEBA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18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E5C6C73-D229-0CDC-BA03-1BD38663DE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96" y="1158720"/>
            <a:ext cx="7855008" cy="501998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EEF7FC-BE49-0AF0-A0DC-3171E23114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545508FD-8198-23B7-B2CA-DDF5653EB1D9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UEBA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731EA8F7-0DF8-79E6-B081-5C79794BE4A9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25BFCEE7-0464-2ED3-005F-14E6FD6AC28F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19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1CFC958-41B4-8BC1-0DC6-51E6ED2551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491" y="1921501"/>
            <a:ext cx="8967018" cy="2847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634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UEBA – Result Metrics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200000"/>
              </a:lnSpc>
              <a:buNone/>
            </a:pPr>
            <a:r>
              <a:rPr lang="en-US" sz="2000" b="1" strike="noStrike" spc="-1" dirty="0">
                <a:solidFill>
                  <a:srgbClr val="045C75"/>
                </a:solidFill>
                <a:latin typeface="Times New Roman"/>
              </a:rPr>
              <a:t>Metric                                    Value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Precision                                  87.4%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Recall                                      91.2%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F1 </a:t>
            </a: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Score                                   0.89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>
                <a:solidFill>
                  <a:srgbClr val="000000"/>
                </a:solidFill>
                <a:latin typeface="Times New Roman"/>
              </a:rPr>
              <a:t>MTTR                                       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&lt; 10 seconds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Model: 		</a:t>
            </a:r>
            <a:r>
              <a:rPr lang="en-US" sz="1600" spc="-1" dirty="0">
                <a:solidFill>
                  <a:srgbClr val="000000"/>
                </a:solidFill>
                <a:latin typeface="Times New Roman"/>
              </a:rPr>
              <a:t> 	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Isolation Forest </a:t>
            </a:r>
          </a:p>
          <a:p>
            <a:pPr algn="l">
              <a:lnSpc>
                <a:spcPct val="200000"/>
              </a:lnSpc>
              <a:buNone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Dataset: 		CICIDS2017 (100,000 records sampled),  Test split: 30%</a:t>
            </a:r>
          </a:p>
          <a:p>
            <a:pPr algn="l">
              <a:lnSpc>
                <a:spcPct val="100000"/>
              </a:lnSpc>
              <a:buNone/>
            </a:pPr>
            <a:endParaRPr lang="en-US" sz="1600" b="0" dirty="0">
              <a:latin typeface="Calibri"/>
            </a:endParaRP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20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UEBA- Feature Engineering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50000"/>
              </a:lnSpc>
              <a:buNone/>
            </a:pPr>
            <a:r>
              <a:rPr lang="en-US" sz="1900" b="1" strike="noStrike" spc="-1" dirty="0">
                <a:solidFill>
                  <a:srgbClr val="045C75"/>
                </a:solidFill>
                <a:latin typeface="Times New Roman"/>
              </a:rPr>
              <a:t>Key Features Used :</a:t>
            </a:r>
          </a:p>
          <a:p>
            <a:pPr>
              <a:lnSpc>
                <a:spcPct val="150000"/>
              </a:lnSpc>
            </a:pPr>
            <a:endParaRPr lang="en-US" sz="1600" b="0" dirty="0">
              <a:latin typeface="Calibri"/>
            </a:endParaRP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session_duration  —  Total active session time; deviations indicate abnormal usage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failed_logins  —  Count of consecutive authentication failures per session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access_time (hour)  —  Login timestamp; off-hours access is a strong anomaly signal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device_trust_score  —  Normalized score for device compliance and MDM posture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privilege_change_attempted  —  Binary flag for privilege escalation attempts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external_connection  —  Binary flag for outbound connections to unknown hosts</a:t>
            </a:r>
          </a:p>
          <a:p>
            <a:pPr marL="341280" indent="-339840">
              <a:lnSpc>
                <a:spcPct val="15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MFA_bypassed  —  Binary flag; MFA bypass combined with other signals = high risk</a:t>
            </a:r>
          </a:p>
          <a:p>
            <a:pPr>
              <a:lnSpc>
                <a:spcPct val="15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50000"/>
              </a:lnSpc>
              <a:buNone/>
            </a:pPr>
            <a:r>
              <a:rPr lang="en-US" sz="1500" b="0" strike="noStrike" spc="-1" dirty="0">
                <a:solidFill>
                  <a:srgbClr val="333333"/>
                </a:solidFill>
                <a:latin typeface="Times New Roman"/>
              </a:rPr>
              <a:t>These 7 features form the behavioral feature vector fed into Isolation Forest.</a:t>
            </a:r>
          </a:p>
          <a:p>
            <a:pPr algn="l">
              <a:lnSpc>
                <a:spcPct val="150000"/>
              </a:lnSpc>
              <a:buNone/>
            </a:pPr>
            <a:r>
              <a:rPr lang="en-US" sz="1500" spc="-1" dirty="0">
                <a:solidFill>
                  <a:srgbClr val="333333"/>
                </a:solidFill>
                <a:latin typeface="Times New Roman"/>
              </a:rPr>
              <a:t>This will be normalized by the SIEM log collection before injecting</a:t>
            </a:r>
            <a:endParaRPr lang="en-US" sz="1500" b="0" strike="noStrike" spc="-1" dirty="0">
              <a:solidFill>
                <a:srgbClr val="333333"/>
              </a:solidFill>
              <a:latin typeface="Times New Roman"/>
            </a:endParaRP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21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960246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UEBA - Why Isolation Forest?</a:t>
            </a:r>
          </a:p>
        </p:txBody>
      </p:sp>
      <p:sp>
        <p:nvSpPr>
          <p:cNvPr id="11" name="Content"/>
          <p:cNvSpPr/>
          <p:nvPr/>
        </p:nvSpPr>
        <p:spPr>
          <a:xfrm>
            <a:off x="407100" y="2003647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900" b="1" strike="noStrike" spc="-1" dirty="0">
                <a:solidFill>
                  <a:srgbClr val="045C75"/>
                </a:solidFill>
                <a:latin typeface="Times New Roman"/>
              </a:rPr>
              <a:t>Why Isolation Forest for UEBA?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Unsupervised — no labeled anomaly data required; learns normal behavior from logs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Scalable — sub-linear complexity handles 1M+ events/hour efficiently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Tabular-native — works directly on structured behavioral log features without embeddings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Low false positive control — contamination parameter directly tunes precision/recall tradeoff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Explainable — anomaly scores are interpretable; can trace which features drove the score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900" b="1" strike="noStrike" spc="-1" dirty="0">
                <a:solidFill>
                  <a:srgbClr val="045C75"/>
                </a:solidFill>
                <a:latin typeface="Times New Roman"/>
              </a:rPr>
              <a:t>Why NOT Deep Learning (LSTM / Autoencoder)?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Requires large labeled datasets — insider threat labeled data is scarce in production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High compute cost — GPU infrastructure not justified for tabular log data at this scale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Black-box outputs — harder to explain risk scores to SOC analysts and auditors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Training instability — autoencoders sensitive to reconstruction threshold tuning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500" b="0" strike="noStrike" spc="-1" dirty="0">
                <a:solidFill>
                  <a:srgbClr val="333333"/>
                </a:solidFill>
                <a:latin typeface="Times New Roman"/>
              </a:rPr>
              <a:t>Isolation Forest is the correct choice: fast, unsupervised, explainable, production-ready.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22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FA9C94-4B58-D0B1-36B6-AD8622BE8B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056E6AEA-7772-E0D3-D896-050E2990F147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SOAR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43243CD0-6C13-3AEA-22FE-936B90B08287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F6EED6F6-CE28-EDDB-6C23-F4F303B16FE4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23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63E37F7-3671-2A29-0825-BC715CE7B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06" y="1325081"/>
            <a:ext cx="8905477" cy="42078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15699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C1E360-756F-7358-C938-71BE1F048D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>
            <a:extLst>
              <a:ext uri="{FF2B5EF4-FFF2-40B4-BE49-F238E27FC236}">
                <a16:creationId xmlns:a16="http://schemas.microsoft.com/office/drawing/2014/main" id="{FEF68928-E350-28C3-7F2A-5FF392D1F50D}"/>
              </a:ext>
            </a:extLst>
          </p:cNvPr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- SOAR</a:t>
            </a:r>
          </a:p>
        </p:txBody>
      </p:sp>
      <p:sp>
        <p:nvSpPr>
          <p:cNvPr id="901" name="DatePH">
            <a:extLst>
              <a:ext uri="{FF2B5EF4-FFF2-40B4-BE49-F238E27FC236}">
                <a16:creationId xmlns:a16="http://schemas.microsoft.com/office/drawing/2014/main" id="{98AEBA01-1202-7CDB-1E1F-68DCB711F2A4}"/>
              </a:ext>
            </a:extLst>
          </p:cNvPr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>
            <a:extLst>
              <a:ext uri="{FF2B5EF4-FFF2-40B4-BE49-F238E27FC236}">
                <a16:creationId xmlns:a16="http://schemas.microsoft.com/office/drawing/2014/main" id="{9E49F6E5-5244-FD3B-046C-A76F1373B723}"/>
              </a:ext>
            </a:extLst>
          </p:cNvPr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24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BA217C4-EE3A-7CBA-5CC3-25D12B5278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280" y="1265872"/>
            <a:ext cx="8760542" cy="4144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08880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Results – SOAR Analysis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Ingestion &amp; Risk Scoring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Incident received from soc_analyst_01 — Risk Score evaluated at critical </a:t>
            </a:r>
            <a:r>
              <a:rPr lang="en-US" sz="1600" b="1" strike="noStrike" spc="-1" dirty="0">
                <a:solidFill>
                  <a:srgbClr val="CC2200"/>
                </a:solidFill>
                <a:latin typeface="Times New Roman"/>
              </a:rPr>
              <a:t>96/100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Contextual Analysis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JSON metadata confirms MFA_bypassed: 1 — verified credential compromise, not a false alert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Automated Playbooks — 3 Simultaneous Actions Triggered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</a:rPr>
              <a:t>Enforce MFA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forces re-authentication to block attacker access immediately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</a:rPr>
              <a:t>Revoke Privileges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strips admin rights instantly to limit blast radius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1" strike="noStrike" spc="-1" dirty="0">
                <a:solidFill>
                  <a:srgbClr val="000000"/>
                </a:solidFill>
                <a:latin typeface="Times New Roman"/>
              </a:rPr>
              <a:t>Isolate Endpoint</a:t>
            </a: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 — quarantines IP 192.168.1.50 to prevent lateral movement</a:t>
            </a:r>
          </a:p>
          <a:p>
            <a:pPr algn="l">
              <a:lnSpc>
                <a:spcPct val="100000"/>
              </a:lnSpc>
              <a:buNone/>
            </a:pPr>
            <a:r>
              <a:rPr lang="en-US" sz="1800" b="1" strike="noStrike" spc="-1" dirty="0">
                <a:solidFill>
                  <a:srgbClr val="045C75"/>
                </a:solidFill>
                <a:latin typeface="Times New Roman"/>
              </a:rPr>
              <a:t>Key Outcomes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MTTR reduced to milliseconds (logged at 14:12:59) vs. minutes/hours for manual SOC response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Policy-based orchestration — the playbook is the incident response plan translated into code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600" b="0" strike="noStrike" spc="-1" dirty="0">
                <a:solidFill>
                  <a:srgbClr val="000000"/>
                </a:solidFill>
                <a:latin typeface="Times New Roman"/>
              </a:rPr>
              <a:t>Score 96/100 triggers autonomous device isolation — balancing automation with operational availability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25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400" b="0" strike="noStrike" spc="-1" dirty="0">
                <a:solidFill>
                  <a:srgbClr val="000000"/>
                </a:solidFill>
                <a:latin typeface="Times New Roman"/>
              </a:rPr>
              <a:t>End-to-End Case Study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70000"/>
            <a:ext cx="8229600" cy="49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algn="l">
              <a:lnSpc>
                <a:spcPct val="100000"/>
              </a:lnSpc>
              <a:buNone/>
            </a:pPr>
            <a:r>
              <a:rPr lang="en-US" sz="1900" b="1" strike="noStrike" spc="-1" dirty="0">
                <a:solidFill>
                  <a:srgbClr val="045C75"/>
                </a:solidFill>
                <a:latin typeface="Times New Roman"/>
              </a:rPr>
              <a:t>Scenario: Compromised Insider Account Detected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700" b="1" strike="noStrike" spc="-1" dirty="0">
                <a:solidFill>
                  <a:srgbClr val="000000"/>
                </a:solidFill>
                <a:latin typeface="Times New Roman"/>
              </a:rPr>
              <a:t>Input (Raw Behavioral Session Log):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User logs in at 02:14 AM (off-hours)  →  access_time anomaly signal triggered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5 consecutive failed logins before success  →  failed_logins = 5 (threshold: 3)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Privilege escalation attempted on financial records  →  privilege_change_attempted = 1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MFA challenge bypassed  →  MFA_bypassed = 1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700" b="1" strike="noStrike" spc="-1" dirty="0">
                <a:solidFill>
                  <a:srgbClr val="000000"/>
                </a:solidFill>
                <a:latin typeface="Times New Roman"/>
              </a:rPr>
              <a:t>UEBA Processing: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Feature vector: [session_dur=480s, failed=5, hour=2, trust=0.3, priv=1, ext=0, mfa=1]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Isolation Forest anomaly score: -0.42  (well below decision boundary of 0)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Risk Score assigned: 95  (High Risk)</a:t>
            </a:r>
          </a:p>
          <a:p>
            <a:pPr>
              <a:lnSpc>
                <a:spcPct val="70000"/>
              </a:lnSpc>
            </a:pPr>
            <a:endParaRPr lang="en-US" sz="1600" b="0" dirty="0">
              <a:latin typeface="Calibri"/>
            </a:endParaRPr>
          </a:p>
          <a:p>
            <a:pPr algn="l">
              <a:lnSpc>
                <a:spcPct val="100000"/>
              </a:lnSpc>
              <a:buNone/>
            </a:pPr>
            <a:r>
              <a:rPr lang="en-US" sz="1700" b="1" strike="noStrike" spc="-1" dirty="0">
                <a:solidFill>
                  <a:srgbClr val="000000"/>
                </a:solidFill>
                <a:latin typeface="Times New Roman"/>
              </a:rPr>
              <a:t>SOAR Automated Response (&lt; 10 seconds total):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MFA re-challenge triggered  +  Session suspended  +  Source IP blocked via Firewall API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1700" b="0" strike="noStrike" spc="-1" dirty="0">
                <a:solidFill>
                  <a:srgbClr val="000000"/>
                </a:solidFill>
                <a:latin typeface="Times New Roman"/>
              </a:rPr>
              <a:t>Incident ticket auto-created in SIEM  +  SOC analyst notified with full context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26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/>
              </a:rPr>
              <a:t>Conclusion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400000"/>
            <a:ext cx="8229600" cy="47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A unified Zero Trust framework was developed, integrating SIEM, Isolation Forest-based UEBA, and adaptive SOAR playbooks to enable context-aware, automated threat mitigation.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 err="1">
                <a:solidFill>
                  <a:srgbClr val="000000"/>
                </a:solidFill>
                <a:latin typeface="Times New Roman"/>
              </a:rPr>
              <a:t>Behavioural</a:t>
            </a: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 anomaly scores were transformed into actionable risk levels, triggering real-time identity validation, MFA enforcement, micro-segmentation, and endpoint isolation.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The system achieved sub-10-second MTTR for network-based attacks while reducing false positives compared to traditional static SIEM-SOAR pipelines.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sz="2000" b="0" strike="noStrike" spc="-1" dirty="0">
                <a:solidFill>
                  <a:srgbClr val="000000"/>
                </a:solidFill>
                <a:latin typeface="Times New Roman"/>
              </a:rPr>
              <a:t>Future enhancements include distributed scalability, adaptive threshold tuning, self-learning playbooks, and expanded hybrid cloud Zero Trust enforcement.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27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"/>
          <p:cNvSpPr/>
          <p:nvPr/>
        </p:nvSpPr>
        <p:spPr>
          <a:xfrm>
            <a:off x="179280" y="396720"/>
            <a:ext cx="8685240" cy="762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4000" b="0" strike="noStrike" spc="-1" dirty="0">
                <a:solidFill>
                  <a:srgbClr val="000000"/>
                </a:solidFill>
                <a:latin typeface="Times New Roman"/>
              </a:rPr>
              <a:t>References</a:t>
            </a:r>
          </a:p>
        </p:txBody>
      </p:sp>
      <p:sp>
        <p:nvSpPr>
          <p:cNvPr id="11" name="Content"/>
          <p:cNvSpPr/>
          <p:nvPr/>
        </p:nvSpPr>
        <p:spPr>
          <a:xfrm>
            <a:off x="457200" y="1200000"/>
            <a:ext cx="8229600" cy="50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t">
            <a:noAutofit/>
          </a:bodyPr>
          <a:lstStyle/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Rose, S., Borchert, O., Mitchell, S., &amp; Connelly, S. (2020). Zero Trust Architecture. NIST Special Publication 800-207. doi:10.6028/NIST.SP.800-207.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Syed, N. F., Shah, S. W.,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Shaghaghi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, A., et al. (2022). Zero trust architecture (ZTA): A comprehensive survey. IEEE Access, 10, 57143-57179.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Marri, H., Patel, K., &amp; Agarwal, P. (2024). Machine learning in SIEM systems: Enhancing threat detection. IEEE Trans. Information Forensics &amp; Security, 19, 250-270.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Hariri, S., Moustafa, N., &amp; Sitnikova, E. (2021). Adversarial ML in network intrusion detection. Neural Computing and Applications, 33, 10231-10261.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Schlette, D., et al. (2024). Do you play it by the books? A study on incident response playbooks. IEEE Symposium on Security and Privacy.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Lin, P.-C., et al. (2019). Endpoint detection and response: A survey and open research issues. IEEE Access, 7, 170351-170365.</a:t>
            </a:r>
          </a:p>
          <a:p>
            <a:pPr marL="341280" indent="-339840">
              <a:lnSpc>
                <a:spcPct val="100000"/>
              </a:lnSpc>
              <a:buClr>
                <a:srgbClr val="000000"/>
              </a:buClr>
              <a:buFont typeface="Arial"/>
              <a:buChar char="•"/>
            </a:pP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Hassan, A., Rauf, A., Shafqat, N., Latif, R., &amp; Khan, H. (2025). </a:t>
            </a:r>
            <a:r>
              <a:rPr lang="en-US" b="0" strike="noStrike" spc="-1" dirty="0" err="1">
                <a:solidFill>
                  <a:srgbClr val="000000"/>
                </a:solidFill>
                <a:latin typeface="Times New Roman"/>
              </a:rPr>
              <a:t>ZenGuard</a:t>
            </a:r>
            <a:r>
              <a:rPr lang="en-US" b="0" strike="noStrike" spc="-1" dirty="0">
                <a:solidFill>
                  <a:srgbClr val="000000"/>
                </a:solidFill>
                <a:latin typeface="Times New Roman"/>
              </a:rPr>
              <a:t>: ML-based Zero Trust framework. Scientific Reports, 15, 35871.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28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TY"/>
          <p:cNvSpPr/>
          <p:nvPr/>
        </p:nvSpPr>
        <p:spPr>
          <a:xfrm>
            <a:off x="457200" y="2500000"/>
            <a:ext cx="8229600" cy="18000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6800" rIns="90000" bIns="46800" anchor="ctr">
            <a:noAutofit/>
          </a:bodyPr>
          <a:lstStyle/>
          <a:p>
            <a:pPr algn="ctr"/>
            <a:r>
              <a:rPr lang="en-US" sz="6000" b="1" strike="noStrike" spc="-1">
                <a:solidFill>
                  <a:srgbClr val="1F5C8B"/>
                </a:solidFill>
                <a:latin typeface="Times New Roman"/>
              </a:rPr>
              <a:t>THANK YOU</a:t>
            </a:r>
          </a:p>
        </p:txBody>
      </p:sp>
      <p:sp>
        <p:nvSpPr>
          <p:cNvPr id="901" name="DatePH"/>
          <p:cNvSpPr/>
          <p:nvPr/>
        </p:nvSpPr>
        <p:spPr>
          <a:xfrm>
            <a:off x="457200" y="6356520"/>
            <a:ext cx="21337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fld id="{F196C58C-5F04-4C11-8C72-5E9FC22741FA}" type="datetime">
              <a:rPr lang="en-US" sz="1200" b="0" strike="noStrike" spc="-1">
                <a:solidFill>
                  <a:srgbClr val="045C75"/>
                </a:solidFill>
                <a:latin typeface="Calibri"/>
              </a:rPr>
              <a:t>3/18/2026</a:t>
            </a:fld>
            <a:endParaRPr lang="en-US" sz="1200" b="0" strike="noStrike" spc="-1">
              <a:solidFill>
                <a:srgbClr val="045C75"/>
              </a:solidFill>
              <a:latin typeface="Calibri"/>
            </a:endParaRPr>
          </a:p>
        </p:txBody>
      </p:sp>
      <p:sp>
        <p:nvSpPr>
          <p:cNvPr id="902" name="SlideNumPH"/>
          <p:cNvSpPr/>
          <p:nvPr/>
        </p:nvSpPr>
        <p:spPr>
          <a:xfrm>
            <a:off x="7924680" y="6356520"/>
            <a:ext cx="762120" cy="365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b">
            <a:noAutofit/>
          </a:bodyPr>
          <a:lstStyle/>
          <a:p>
            <a:pPr algn="r"/>
            <a:fld id="{8F570691-39C2-4917-B0B9-61BC158E1D0B}" type="slidenum">
              <a:rPr lang="en-US" sz="1200" b="0" strike="noStrike" spc="-1">
                <a:solidFill>
                  <a:srgbClr val="898989"/>
                </a:solidFill>
                <a:latin typeface="Calibri"/>
              </a:rPr>
              <a:t>29</a:t>
            </a:fld>
            <a:endParaRPr lang="en-US" sz="1200" b="0" strike="noStrike" spc="-1">
              <a:solidFill>
                <a:srgbClr val="898989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14165</TotalTime>
  <Words>2746</Words>
  <Application>Microsoft Office PowerPoint</Application>
  <PresentationFormat>On-screen Show (4:3)</PresentationFormat>
  <Paragraphs>347</Paragraphs>
  <Slides>29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5</vt:i4>
      </vt:variant>
      <vt:variant>
        <vt:lpstr>Slide Titles</vt:lpstr>
      </vt:variant>
      <vt:variant>
        <vt:i4>29</vt:i4>
      </vt:variant>
    </vt:vector>
  </HeadingPairs>
  <TitlesOfParts>
    <vt:vector size="39" baseType="lpstr">
      <vt:lpstr>Arial</vt:lpstr>
      <vt:lpstr>Calibri</vt:lpstr>
      <vt:lpstr>Constantia</vt:lpstr>
      <vt:lpstr>Times New Roman</vt:lpstr>
      <vt:lpstr>Wingdings 2</vt:lpstr>
      <vt:lpstr>Office</vt:lpstr>
      <vt:lpstr>Office</vt:lpstr>
      <vt:lpstr>Office</vt:lpstr>
      <vt:lpstr>Office</vt:lpstr>
      <vt:lpstr>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Gokulakannan BS</dc:creator>
  <cp:lastModifiedBy>Pranav Jai Sankar</cp:lastModifiedBy>
  <cp:revision>8</cp:revision>
  <dcterms:modified xsi:type="dcterms:W3CDTF">2026-03-18T10:14:27Z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2018-03-10T03:31:58Z</dcterms:created>
  <dc:creator>laptop1</dc:creator>
  <dc:description/>
  <dc:language>en-US</dc:language>
  <cp:lastModifiedBy>ArunPrasad P</cp:lastModifiedBy>
  <dcterms:modified xsi:type="dcterms:W3CDTF">2025-03-17T12:09:33Z</dcterms:modified>
  <cp:revision>202</cp:revision>
  <dc:subject/>
  <dc:title>Slide 1</dc:title>
</cp:coreProperties>
</file>