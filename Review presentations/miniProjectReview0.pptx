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71" r:id="rId6"/>
    <p:sldId id="272" r:id="rId7"/>
    <p:sldId id="273" r:id="rId8"/>
    <p:sldId id="274" r:id="rId9"/>
    <p:sldId id="275" r:id="rId10"/>
    <p:sldId id="276" r:id="rId11"/>
    <p:sldId id="263" r:id="rId12"/>
    <p:sldId id="281" r:id="rId13"/>
    <p:sldId id="264" r:id="rId14"/>
    <p:sldId id="265" r:id="rId15"/>
    <p:sldId id="268" r:id="rId16"/>
    <p:sldId id="278" r:id="rId17"/>
    <p:sldId id="269" r:id="rId18"/>
    <p:sldId id="270" r:id="rId1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800" autoAdjust="0"/>
  </p:normalViewPr>
  <p:slideViewPr>
    <p:cSldViewPr>
      <p:cViewPr varScale="1">
        <p:scale>
          <a:sx n="81" d="100"/>
          <a:sy n="81" d="100"/>
        </p:scale>
        <p:origin x="84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006FC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1">
                <a:solidFill>
                  <a:srgbClr val="046F09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39"/>
              </a:lnSpc>
            </a:pPr>
            <a:r>
              <a:rPr spc="-10" dirty="0"/>
              <a:t>2/20/2024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1">
                <a:solidFill>
                  <a:srgbClr val="046F09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39"/>
              </a:lnSpc>
            </a:pPr>
            <a:r>
              <a:rPr dirty="0"/>
              <a:t>Project</a:t>
            </a:r>
            <a:r>
              <a:rPr spc="-45" dirty="0"/>
              <a:t> </a:t>
            </a:r>
            <a:r>
              <a:rPr dirty="0"/>
              <a:t>Review</a:t>
            </a:r>
            <a:r>
              <a:rPr spc="-30" dirty="0"/>
              <a:t> </a:t>
            </a:r>
            <a:r>
              <a:rPr dirty="0"/>
              <a:t>-</a:t>
            </a:r>
            <a:r>
              <a:rPr spc="-55" dirty="0"/>
              <a:t> </a:t>
            </a:r>
            <a:r>
              <a:rPr spc="-50" dirty="0"/>
              <a:t>I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001F5F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006FC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1">
                <a:solidFill>
                  <a:srgbClr val="046F09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39"/>
              </a:lnSpc>
            </a:pPr>
            <a:r>
              <a:rPr spc="-10" dirty="0"/>
              <a:t>2/20/2024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1">
                <a:solidFill>
                  <a:srgbClr val="046F09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39"/>
              </a:lnSpc>
            </a:pPr>
            <a:r>
              <a:rPr dirty="0"/>
              <a:t>Project</a:t>
            </a:r>
            <a:r>
              <a:rPr spc="-45" dirty="0"/>
              <a:t> </a:t>
            </a:r>
            <a:r>
              <a:rPr dirty="0"/>
              <a:t>Review</a:t>
            </a:r>
            <a:r>
              <a:rPr spc="-30" dirty="0"/>
              <a:t> </a:t>
            </a:r>
            <a:r>
              <a:rPr dirty="0"/>
              <a:t>-</a:t>
            </a:r>
            <a:r>
              <a:rPr spc="-55" dirty="0"/>
              <a:t> </a:t>
            </a:r>
            <a:r>
              <a:rPr spc="-50" dirty="0"/>
              <a:t>I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001F5F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006FC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1">
                <a:solidFill>
                  <a:srgbClr val="046F09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39"/>
              </a:lnSpc>
            </a:pPr>
            <a:r>
              <a:rPr spc="-10" dirty="0"/>
              <a:t>2/20/2024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1">
                <a:solidFill>
                  <a:srgbClr val="046F09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39"/>
              </a:lnSpc>
            </a:pPr>
            <a:r>
              <a:rPr dirty="0"/>
              <a:t>Project</a:t>
            </a:r>
            <a:r>
              <a:rPr spc="-45" dirty="0"/>
              <a:t> </a:t>
            </a:r>
            <a:r>
              <a:rPr dirty="0"/>
              <a:t>Review</a:t>
            </a:r>
            <a:r>
              <a:rPr spc="-30" dirty="0"/>
              <a:t> </a:t>
            </a:r>
            <a:r>
              <a:rPr dirty="0"/>
              <a:t>-</a:t>
            </a:r>
            <a:r>
              <a:rPr spc="-55" dirty="0"/>
              <a:t> </a:t>
            </a:r>
            <a:r>
              <a:rPr spc="-50" dirty="0"/>
              <a:t>I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001F5F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006FC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1">
                <a:solidFill>
                  <a:srgbClr val="046F09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39"/>
              </a:lnSpc>
            </a:pPr>
            <a:r>
              <a:rPr spc="-10" dirty="0"/>
              <a:t>2/20/2024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1">
                <a:solidFill>
                  <a:srgbClr val="046F09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39"/>
              </a:lnSpc>
            </a:pPr>
            <a:r>
              <a:rPr dirty="0"/>
              <a:t>Project</a:t>
            </a:r>
            <a:r>
              <a:rPr spc="-45" dirty="0"/>
              <a:t> </a:t>
            </a:r>
            <a:r>
              <a:rPr dirty="0"/>
              <a:t>Review</a:t>
            </a:r>
            <a:r>
              <a:rPr spc="-30" dirty="0"/>
              <a:t> </a:t>
            </a:r>
            <a:r>
              <a:rPr dirty="0"/>
              <a:t>-</a:t>
            </a:r>
            <a:r>
              <a:rPr spc="-55" dirty="0"/>
              <a:t> </a:t>
            </a:r>
            <a:r>
              <a:rPr spc="-50" dirty="0"/>
              <a:t>I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001F5F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1">
                <a:solidFill>
                  <a:srgbClr val="046F09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39"/>
              </a:lnSpc>
            </a:pPr>
            <a:r>
              <a:rPr spc="-10" dirty="0"/>
              <a:t>2/20/2024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00" b="0" i="1">
                <a:solidFill>
                  <a:srgbClr val="046F09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39"/>
              </a:lnSpc>
            </a:pPr>
            <a:r>
              <a:rPr dirty="0"/>
              <a:t>Project</a:t>
            </a:r>
            <a:r>
              <a:rPr spc="-45" dirty="0"/>
              <a:t> </a:t>
            </a:r>
            <a:r>
              <a:rPr dirty="0"/>
              <a:t>Review</a:t>
            </a:r>
            <a:r>
              <a:rPr spc="-30" dirty="0"/>
              <a:t> </a:t>
            </a:r>
            <a:r>
              <a:rPr dirty="0"/>
              <a:t>-</a:t>
            </a:r>
            <a:r>
              <a:rPr spc="-55" dirty="0"/>
              <a:t> </a:t>
            </a:r>
            <a:r>
              <a:rPr spc="-50" dirty="0"/>
              <a:t>I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001F5F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5343" y="70103"/>
            <a:ext cx="12018645" cy="6693534"/>
          </a:xfrm>
          <a:custGeom>
            <a:avLst/>
            <a:gdLst/>
            <a:ahLst/>
            <a:cxnLst/>
            <a:rect l="l" t="t" r="r" b="b"/>
            <a:pathLst>
              <a:path w="12018645" h="6693534">
                <a:moveTo>
                  <a:pt x="0" y="329946"/>
                </a:moveTo>
                <a:lnTo>
                  <a:pt x="3577" y="281184"/>
                </a:lnTo>
                <a:lnTo>
                  <a:pt x="13968" y="234645"/>
                </a:lnTo>
                <a:lnTo>
                  <a:pt x="30664" y="190840"/>
                </a:lnTo>
                <a:lnTo>
                  <a:pt x="53153" y="150277"/>
                </a:lnTo>
                <a:lnTo>
                  <a:pt x="80925" y="113468"/>
                </a:lnTo>
                <a:lnTo>
                  <a:pt x="113469" y="80923"/>
                </a:lnTo>
                <a:lnTo>
                  <a:pt x="150276" y="53151"/>
                </a:lnTo>
                <a:lnTo>
                  <a:pt x="190835" y="30662"/>
                </a:lnTo>
                <a:lnTo>
                  <a:pt x="234636" y="13967"/>
                </a:lnTo>
                <a:lnTo>
                  <a:pt x="281168" y="3576"/>
                </a:lnTo>
                <a:lnTo>
                  <a:pt x="329920" y="0"/>
                </a:lnTo>
                <a:lnTo>
                  <a:pt x="11688317" y="0"/>
                </a:lnTo>
                <a:lnTo>
                  <a:pt x="11737079" y="3576"/>
                </a:lnTo>
                <a:lnTo>
                  <a:pt x="11783618" y="13967"/>
                </a:lnTo>
                <a:lnTo>
                  <a:pt x="11827423" y="30662"/>
                </a:lnTo>
                <a:lnTo>
                  <a:pt x="11867986" y="53151"/>
                </a:lnTo>
                <a:lnTo>
                  <a:pt x="11904795" y="80923"/>
                </a:lnTo>
                <a:lnTo>
                  <a:pt x="11937340" y="113468"/>
                </a:lnTo>
                <a:lnTo>
                  <a:pt x="11965112" y="150277"/>
                </a:lnTo>
                <a:lnTo>
                  <a:pt x="11987601" y="190840"/>
                </a:lnTo>
                <a:lnTo>
                  <a:pt x="12004296" y="234645"/>
                </a:lnTo>
                <a:lnTo>
                  <a:pt x="12014687" y="281184"/>
                </a:lnTo>
                <a:lnTo>
                  <a:pt x="12018264" y="329946"/>
                </a:lnTo>
                <a:lnTo>
                  <a:pt x="12018264" y="6363487"/>
                </a:lnTo>
                <a:lnTo>
                  <a:pt x="12014687" y="6412239"/>
                </a:lnTo>
                <a:lnTo>
                  <a:pt x="12004296" y="6458771"/>
                </a:lnTo>
                <a:lnTo>
                  <a:pt x="11987601" y="6502572"/>
                </a:lnTo>
                <a:lnTo>
                  <a:pt x="11965112" y="6543131"/>
                </a:lnTo>
                <a:lnTo>
                  <a:pt x="11937340" y="6579938"/>
                </a:lnTo>
                <a:lnTo>
                  <a:pt x="11904795" y="6612482"/>
                </a:lnTo>
                <a:lnTo>
                  <a:pt x="11867986" y="6640254"/>
                </a:lnTo>
                <a:lnTo>
                  <a:pt x="11827423" y="6662743"/>
                </a:lnTo>
                <a:lnTo>
                  <a:pt x="11783618" y="6679439"/>
                </a:lnTo>
                <a:lnTo>
                  <a:pt x="11737079" y="6689830"/>
                </a:lnTo>
                <a:lnTo>
                  <a:pt x="11688317" y="6693408"/>
                </a:lnTo>
                <a:lnTo>
                  <a:pt x="329920" y="6693408"/>
                </a:lnTo>
                <a:lnTo>
                  <a:pt x="281168" y="6689830"/>
                </a:lnTo>
                <a:lnTo>
                  <a:pt x="234636" y="6679439"/>
                </a:lnTo>
                <a:lnTo>
                  <a:pt x="190835" y="6662743"/>
                </a:lnTo>
                <a:lnTo>
                  <a:pt x="150276" y="6640254"/>
                </a:lnTo>
                <a:lnTo>
                  <a:pt x="113469" y="6612482"/>
                </a:lnTo>
                <a:lnTo>
                  <a:pt x="80925" y="6579938"/>
                </a:lnTo>
                <a:lnTo>
                  <a:pt x="53153" y="6543131"/>
                </a:lnTo>
                <a:lnTo>
                  <a:pt x="30664" y="6502572"/>
                </a:lnTo>
                <a:lnTo>
                  <a:pt x="13968" y="6458771"/>
                </a:lnTo>
                <a:lnTo>
                  <a:pt x="3577" y="6412239"/>
                </a:lnTo>
                <a:lnTo>
                  <a:pt x="0" y="6363487"/>
                </a:lnTo>
                <a:lnTo>
                  <a:pt x="0" y="329946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601200" y="178308"/>
            <a:ext cx="2400300" cy="62788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3811" y="115011"/>
            <a:ext cx="10224262" cy="12104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006FC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0600435" y="6502524"/>
            <a:ext cx="851534" cy="250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1">
                <a:solidFill>
                  <a:srgbClr val="046F09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39"/>
              </a:lnSpc>
            </a:pPr>
            <a:r>
              <a:rPr spc="-10" dirty="0"/>
              <a:t>2/20/2024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91641" y="6511973"/>
            <a:ext cx="1494155" cy="250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1">
                <a:solidFill>
                  <a:srgbClr val="046F09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839"/>
              </a:lnSpc>
            </a:pPr>
            <a:r>
              <a:rPr dirty="0"/>
              <a:t>Project</a:t>
            </a:r>
            <a:r>
              <a:rPr spc="-45" dirty="0"/>
              <a:t> </a:t>
            </a:r>
            <a:r>
              <a:rPr dirty="0"/>
              <a:t>Review</a:t>
            </a:r>
            <a:r>
              <a:rPr spc="-30" dirty="0"/>
              <a:t> </a:t>
            </a:r>
            <a:r>
              <a:rPr dirty="0"/>
              <a:t>-</a:t>
            </a:r>
            <a:r>
              <a:rPr spc="-55" dirty="0"/>
              <a:t> </a:t>
            </a:r>
            <a:r>
              <a:rPr spc="-50" dirty="0"/>
              <a:t>I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88111" y="6331533"/>
            <a:ext cx="223520" cy="224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001F5F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038/s41598-025-20998-4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7158" y="2551803"/>
            <a:ext cx="4655477" cy="49191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04672" y="2417190"/>
            <a:ext cx="10625328" cy="997709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IN" sz="3200" dirty="0" err="1">
                <a:solidFill>
                  <a:srgbClr val="FF0000"/>
                </a:solidFill>
              </a:rPr>
              <a:t>ZenGuard</a:t>
            </a:r>
            <a:r>
              <a:rPr lang="en-IN" sz="3200" dirty="0">
                <a:solidFill>
                  <a:srgbClr val="FF0000"/>
                </a:solidFill>
              </a:rPr>
              <a:t> – A Zero Trust, ML-Driven SIEM–SOAR–UEBA Framework</a:t>
            </a:r>
            <a:endParaRPr lang="en-IN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95071" y="6210300"/>
            <a:ext cx="609600" cy="457200"/>
          </a:xfrm>
          <a:custGeom>
            <a:avLst/>
            <a:gdLst/>
            <a:ahLst/>
            <a:cxnLst/>
            <a:rect l="l" t="t" r="r" b="b"/>
            <a:pathLst>
              <a:path w="609600" h="457200">
                <a:moveTo>
                  <a:pt x="304800" y="0"/>
                </a:moveTo>
                <a:lnTo>
                  <a:pt x="250011" y="3683"/>
                </a:lnTo>
                <a:lnTo>
                  <a:pt x="198444" y="14301"/>
                </a:lnTo>
                <a:lnTo>
                  <a:pt x="150960" y="31210"/>
                </a:lnTo>
                <a:lnTo>
                  <a:pt x="108420" y="53764"/>
                </a:lnTo>
                <a:lnTo>
                  <a:pt x="71684" y="81316"/>
                </a:lnTo>
                <a:lnTo>
                  <a:pt x="41613" y="113221"/>
                </a:lnTo>
                <a:lnTo>
                  <a:pt x="19068" y="148834"/>
                </a:lnTo>
                <a:lnTo>
                  <a:pt x="4910" y="187509"/>
                </a:lnTo>
                <a:lnTo>
                  <a:pt x="0" y="228600"/>
                </a:lnTo>
                <a:lnTo>
                  <a:pt x="4910" y="269690"/>
                </a:lnTo>
                <a:lnTo>
                  <a:pt x="19068" y="308365"/>
                </a:lnTo>
                <a:lnTo>
                  <a:pt x="41613" y="343978"/>
                </a:lnTo>
                <a:lnTo>
                  <a:pt x="71684" y="375883"/>
                </a:lnTo>
                <a:lnTo>
                  <a:pt x="108420" y="403435"/>
                </a:lnTo>
                <a:lnTo>
                  <a:pt x="150960" y="425989"/>
                </a:lnTo>
                <a:lnTo>
                  <a:pt x="198444" y="442898"/>
                </a:lnTo>
                <a:lnTo>
                  <a:pt x="250011" y="453516"/>
                </a:lnTo>
                <a:lnTo>
                  <a:pt x="304800" y="457200"/>
                </a:lnTo>
                <a:lnTo>
                  <a:pt x="359588" y="453516"/>
                </a:lnTo>
                <a:lnTo>
                  <a:pt x="411155" y="442898"/>
                </a:lnTo>
                <a:lnTo>
                  <a:pt x="458639" y="425989"/>
                </a:lnTo>
                <a:lnTo>
                  <a:pt x="501179" y="403435"/>
                </a:lnTo>
                <a:lnTo>
                  <a:pt x="537915" y="375883"/>
                </a:lnTo>
                <a:lnTo>
                  <a:pt x="567986" y="343978"/>
                </a:lnTo>
                <a:lnTo>
                  <a:pt x="590531" y="308365"/>
                </a:lnTo>
                <a:lnTo>
                  <a:pt x="604689" y="269690"/>
                </a:lnTo>
                <a:lnTo>
                  <a:pt x="609600" y="228600"/>
                </a:lnTo>
                <a:lnTo>
                  <a:pt x="604689" y="187509"/>
                </a:lnTo>
                <a:lnTo>
                  <a:pt x="590531" y="148834"/>
                </a:lnTo>
                <a:lnTo>
                  <a:pt x="567986" y="113221"/>
                </a:lnTo>
                <a:lnTo>
                  <a:pt x="537915" y="81316"/>
                </a:lnTo>
                <a:lnTo>
                  <a:pt x="501179" y="53764"/>
                </a:lnTo>
                <a:lnTo>
                  <a:pt x="458639" y="31210"/>
                </a:lnTo>
                <a:lnTo>
                  <a:pt x="411155" y="14301"/>
                </a:lnTo>
                <a:lnTo>
                  <a:pt x="359588" y="3683"/>
                </a:lnTo>
                <a:lnTo>
                  <a:pt x="30480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36880" y="6314643"/>
            <a:ext cx="1250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001F5F"/>
                </a:solidFill>
                <a:latin typeface="Arial MT"/>
                <a:cs typeface="Arial MT"/>
              </a:rPr>
              <a:t>1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295400" y="152400"/>
            <a:ext cx="10637520" cy="2100580"/>
            <a:chOff x="1295400" y="152400"/>
            <a:chExt cx="10637520" cy="2100580"/>
          </a:xfrm>
        </p:grpSpPr>
        <p:sp>
          <p:nvSpPr>
            <p:cNvPr id="14" name="object 14"/>
            <p:cNvSpPr/>
            <p:nvPr/>
          </p:nvSpPr>
          <p:spPr>
            <a:xfrm>
              <a:off x="9601200" y="152400"/>
              <a:ext cx="2331720" cy="1369060"/>
            </a:xfrm>
            <a:custGeom>
              <a:avLst/>
              <a:gdLst/>
              <a:ahLst/>
              <a:cxnLst/>
              <a:rect l="l" t="t" r="r" b="b"/>
              <a:pathLst>
                <a:path w="2331720" h="1369060">
                  <a:moveTo>
                    <a:pt x="2331720" y="0"/>
                  </a:moveTo>
                  <a:lnTo>
                    <a:pt x="0" y="0"/>
                  </a:lnTo>
                  <a:lnTo>
                    <a:pt x="0" y="1368552"/>
                  </a:lnTo>
                  <a:lnTo>
                    <a:pt x="2331720" y="1368552"/>
                  </a:lnTo>
                  <a:lnTo>
                    <a:pt x="23317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5400" y="304800"/>
              <a:ext cx="8753856" cy="1947672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3513772" y="5091618"/>
            <a:ext cx="5164455" cy="1275349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425"/>
              </a:spcBef>
            </a:pPr>
            <a:endParaRPr lang="en-IN" sz="2200" dirty="0">
              <a:latin typeface="Palatino Linotype"/>
              <a:cs typeface="Palatino Linotype"/>
            </a:endParaRPr>
          </a:p>
          <a:p>
            <a:pPr algn="ctr">
              <a:lnSpc>
                <a:spcPct val="100000"/>
              </a:lnSpc>
            </a:pPr>
            <a:r>
              <a:rPr sz="2400" b="1" dirty="0">
                <a:solidFill>
                  <a:srgbClr val="C00000"/>
                </a:solidFill>
                <a:latin typeface="Palatino Linotype"/>
                <a:cs typeface="Palatino Linotype"/>
              </a:rPr>
              <a:t>Guided</a:t>
            </a:r>
            <a:r>
              <a:rPr sz="2400" b="1" spc="-20" dirty="0">
                <a:solidFill>
                  <a:srgbClr val="C00000"/>
                </a:solidFill>
                <a:latin typeface="Palatino Linotype"/>
                <a:cs typeface="Palatino Linotype"/>
              </a:rPr>
              <a:t> </a:t>
            </a:r>
            <a:r>
              <a:rPr sz="2400" b="1" spc="-25" dirty="0">
                <a:solidFill>
                  <a:srgbClr val="C00000"/>
                </a:solidFill>
                <a:latin typeface="Palatino Linotype"/>
                <a:cs typeface="Palatino Linotype"/>
              </a:rPr>
              <a:t>By,</a:t>
            </a:r>
            <a:endParaRPr sz="2400" dirty="0">
              <a:latin typeface="Palatino Linotype"/>
              <a:cs typeface="Palatino Linotype"/>
            </a:endParaRPr>
          </a:p>
          <a:p>
            <a:pPr marL="3175" algn="ctr">
              <a:lnSpc>
                <a:spcPct val="100000"/>
              </a:lnSpc>
              <a:spcBef>
                <a:spcPts val="35"/>
              </a:spcBef>
            </a:pPr>
            <a:r>
              <a:rPr lang="en-US" b="1" dirty="0">
                <a:solidFill>
                  <a:srgbClr val="001F5F"/>
                </a:solidFill>
                <a:latin typeface="Palatino Linotype"/>
                <a:cs typeface="Palatino Linotype"/>
              </a:rPr>
              <a:t>Dr Rajakumaran M</a:t>
            </a:r>
            <a:endParaRPr sz="1800" dirty="0">
              <a:latin typeface="Palatino Linotype"/>
              <a:cs typeface="Palatino Linotype"/>
            </a:endParaRPr>
          </a:p>
          <a:p>
            <a:pPr algn="ctr">
              <a:lnSpc>
                <a:spcPct val="100000"/>
              </a:lnSpc>
            </a:pPr>
            <a:r>
              <a:rPr lang="en-US" b="1" i="1" dirty="0">
                <a:solidFill>
                  <a:srgbClr val="C00000"/>
                </a:solidFill>
                <a:latin typeface="Palatino Linotype"/>
                <a:cs typeface="Palatino Linotype"/>
              </a:rPr>
              <a:t>Assistant Professor III</a:t>
            </a:r>
            <a:r>
              <a:rPr sz="1800" b="1" i="1" dirty="0">
                <a:solidFill>
                  <a:srgbClr val="C00000"/>
                </a:solidFill>
                <a:latin typeface="Palatino Linotype"/>
                <a:cs typeface="Palatino Linotype"/>
              </a:rPr>
              <a:t>,</a:t>
            </a:r>
            <a:r>
              <a:rPr sz="1800" b="1" i="1" spc="-25" dirty="0">
                <a:solidFill>
                  <a:srgbClr val="C00000"/>
                </a:solidFill>
                <a:latin typeface="Palatino Linotype"/>
                <a:cs typeface="Palatino Linotype"/>
              </a:rPr>
              <a:t> </a:t>
            </a:r>
            <a:r>
              <a:rPr sz="1800" b="1" i="1" dirty="0">
                <a:solidFill>
                  <a:srgbClr val="C00000"/>
                </a:solidFill>
                <a:latin typeface="Palatino Linotype"/>
                <a:cs typeface="Palatino Linotype"/>
              </a:rPr>
              <a:t>School</a:t>
            </a:r>
            <a:r>
              <a:rPr sz="1800" b="1" i="1" spc="-25" dirty="0">
                <a:solidFill>
                  <a:srgbClr val="C00000"/>
                </a:solidFill>
                <a:latin typeface="Palatino Linotype"/>
                <a:cs typeface="Palatino Linotype"/>
              </a:rPr>
              <a:t> </a:t>
            </a:r>
            <a:r>
              <a:rPr sz="1800" b="1" i="1" dirty="0">
                <a:solidFill>
                  <a:srgbClr val="C00000"/>
                </a:solidFill>
                <a:latin typeface="Palatino Linotype"/>
                <a:cs typeface="Palatino Linotype"/>
              </a:rPr>
              <a:t>of</a:t>
            </a:r>
            <a:r>
              <a:rPr sz="1800" b="1" i="1" spc="-30" dirty="0">
                <a:solidFill>
                  <a:srgbClr val="C00000"/>
                </a:solidFill>
                <a:latin typeface="Palatino Linotype"/>
                <a:cs typeface="Palatino Linotype"/>
              </a:rPr>
              <a:t> </a:t>
            </a:r>
            <a:r>
              <a:rPr sz="1800" b="1" i="1" spc="-10" dirty="0">
                <a:solidFill>
                  <a:srgbClr val="C00000"/>
                </a:solidFill>
                <a:latin typeface="Palatino Linotype"/>
                <a:cs typeface="Palatino Linotype"/>
              </a:rPr>
              <a:t>Computing</a:t>
            </a:r>
            <a:endParaRPr sz="1800" dirty="0">
              <a:latin typeface="Palatino Linotype"/>
              <a:cs typeface="Palatino Linotype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712736-6E02-5FEA-FC66-52AD3FD58F5C}"/>
              </a:ext>
            </a:extLst>
          </p:cNvPr>
          <p:cNvSpPr txBox="1"/>
          <p:nvPr/>
        </p:nvSpPr>
        <p:spPr>
          <a:xfrm>
            <a:off x="2438399" y="4007172"/>
            <a:ext cx="6304235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33170" algn="ctr">
              <a:lnSpc>
                <a:spcPct val="100000"/>
              </a:lnSpc>
              <a:spcBef>
                <a:spcPts val="105"/>
              </a:spcBef>
            </a:pPr>
            <a:r>
              <a:rPr lang="en-US" sz="2400" b="1" dirty="0">
                <a:solidFill>
                  <a:srgbClr val="C00000"/>
                </a:solidFill>
                <a:latin typeface="Palatino Linotype"/>
                <a:cs typeface="Palatino Linotype"/>
              </a:rPr>
              <a:t>Presented</a:t>
            </a:r>
            <a:r>
              <a:rPr lang="en-US" sz="2400" b="1" spc="-15" dirty="0">
                <a:solidFill>
                  <a:srgbClr val="C00000"/>
                </a:solidFill>
                <a:latin typeface="Palatino Linotype"/>
                <a:cs typeface="Palatino Linotype"/>
              </a:rPr>
              <a:t> </a:t>
            </a:r>
            <a:r>
              <a:rPr lang="en-US" sz="2400" b="1" spc="-25" dirty="0">
                <a:solidFill>
                  <a:srgbClr val="C00000"/>
                </a:solidFill>
                <a:latin typeface="Palatino Linotype"/>
                <a:cs typeface="Palatino Linotype"/>
              </a:rPr>
              <a:t>by,</a:t>
            </a:r>
            <a:endParaRPr lang="en-US" sz="2400" dirty="0">
              <a:latin typeface="Palatino Linotype"/>
              <a:cs typeface="Palatino Linotype"/>
            </a:endParaRPr>
          </a:p>
          <a:p>
            <a:pPr marL="1149350" algn="ctr">
              <a:lnSpc>
                <a:spcPct val="100000"/>
              </a:lnSpc>
              <a:spcBef>
                <a:spcPts val="35"/>
              </a:spcBef>
            </a:pPr>
            <a:r>
              <a:rPr lang="en-US" sz="1800" b="1" dirty="0">
                <a:solidFill>
                  <a:srgbClr val="00AF50"/>
                </a:solidFill>
                <a:latin typeface="Palatino Linotype"/>
                <a:cs typeface="Palatino Linotype"/>
              </a:rPr>
              <a:t>Harish Siddartha – 127158018</a:t>
            </a:r>
          </a:p>
          <a:p>
            <a:pPr marL="1149350" algn="ctr">
              <a:lnSpc>
                <a:spcPct val="100000"/>
              </a:lnSpc>
              <a:spcBef>
                <a:spcPts val="35"/>
              </a:spcBef>
            </a:pPr>
            <a:r>
              <a:rPr lang="en-US" b="1" dirty="0">
                <a:solidFill>
                  <a:srgbClr val="00AF50"/>
                </a:solidFill>
                <a:latin typeface="Palatino Linotype"/>
                <a:cs typeface="Palatino Linotype"/>
              </a:rPr>
              <a:t>Pranav Jai S </a:t>
            </a:r>
            <a:r>
              <a:rPr lang="en-US" b="1" dirty="0" err="1">
                <a:solidFill>
                  <a:srgbClr val="00AF50"/>
                </a:solidFill>
                <a:latin typeface="Palatino Linotype"/>
                <a:cs typeface="Palatino Linotype"/>
              </a:rPr>
              <a:t>S</a:t>
            </a:r>
            <a:r>
              <a:rPr lang="en-US" b="1" dirty="0">
                <a:solidFill>
                  <a:srgbClr val="00AF50"/>
                </a:solidFill>
                <a:latin typeface="Palatino Linotype"/>
                <a:cs typeface="Palatino Linotype"/>
              </a:rPr>
              <a:t> - 127003193</a:t>
            </a:r>
          </a:p>
          <a:p>
            <a:pPr marL="1149350" algn="ctr">
              <a:lnSpc>
                <a:spcPct val="100000"/>
              </a:lnSpc>
              <a:spcBef>
                <a:spcPts val="35"/>
              </a:spcBef>
            </a:pPr>
            <a:r>
              <a:rPr lang="en-US" sz="1800" b="1" dirty="0" err="1">
                <a:solidFill>
                  <a:srgbClr val="00AF50"/>
                </a:solidFill>
                <a:latin typeface="Palatino Linotype"/>
                <a:cs typeface="Palatino Linotype"/>
              </a:rPr>
              <a:t>Gokul</a:t>
            </a:r>
            <a:r>
              <a:rPr lang="en-US" b="1" dirty="0" err="1">
                <a:solidFill>
                  <a:srgbClr val="00AF50"/>
                </a:solidFill>
                <a:latin typeface="Palatino Linotype"/>
                <a:cs typeface="Palatino Linotype"/>
              </a:rPr>
              <a:t>akannan</a:t>
            </a:r>
            <a:r>
              <a:rPr lang="en-US" b="1" dirty="0">
                <a:solidFill>
                  <a:srgbClr val="00AF50"/>
                </a:solidFill>
                <a:latin typeface="Palatino Linotype"/>
                <a:cs typeface="Palatino Linotype"/>
              </a:rPr>
              <a:t> B S - 127003077</a:t>
            </a:r>
            <a:endParaRPr lang="en-US" sz="1800" dirty="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3191" y="221004"/>
            <a:ext cx="10224262" cy="1128436"/>
          </a:xfrm>
          <a:prstGeom prst="rect">
            <a:avLst/>
          </a:prstGeom>
        </p:spPr>
        <p:txBody>
          <a:bodyPr vert="horz" wrap="square" lIns="0" tIns="507923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95"/>
              </a:spcBef>
            </a:pPr>
            <a:r>
              <a:rPr lang="en-US" spc="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spc="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95071" y="6210300"/>
            <a:ext cx="609600" cy="457200"/>
          </a:xfrm>
          <a:custGeom>
            <a:avLst/>
            <a:gdLst/>
            <a:ahLst/>
            <a:cxnLst/>
            <a:rect l="l" t="t" r="r" b="b"/>
            <a:pathLst>
              <a:path w="609600" h="457200">
                <a:moveTo>
                  <a:pt x="304800" y="0"/>
                </a:moveTo>
                <a:lnTo>
                  <a:pt x="250011" y="3683"/>
                </a:lnTo>
                <a:lnTo>
                  <a:pt x="198444" y="14301"/>
                </a:lnTo>
                <a:lnTo>
                  <a:pt x="150960" y="31210"/>
                </a:lnTo>
                <a:lnTo>
                  <a:pt x="108420" y="53764"/>
                </a:lnTo>
                <a:lnTo>
                  <a:pt x="71684" y="81316"/>
                </a:lnTo>
                <a:lnTo>
                  <a:pt x="41613" y="113221"/>
                </a:lnTo>
                <a:lnTo>
                  <a:pt x="19068" y="148834"/>
                </a:lnTo>
                <a:lnTo>
                  <a:pt x="4910" y="187509"/>
                </a:lnTo>
                <a:lnTo>
                  <a:pt x="0" y="228600"/>
                </a:lnTo>
                <a:lnTo>
                  <a:pt x="4910" y="269690"/>
                </a:lnTo>
                <a:lnTo>
                  <a:pt x="19068" y="308365"/>
                </a:lnTo>
                <a:lnTo>
                  <a:pt x="41613" y="343978"/>
                </a:lnTo>
                <a:lnTo>
                  <a:pt x="71684" y="375883"/>
                </a:lnTo>
                <a:lnTo>
                  <a:pt x="108420" y="403435"/>
                </a:lnTo>
                <a:lnTo>
                  <a:pt x="150960" y="425989"/>
                </a:lnTo>
                <a:lnTo>
                  <a:pt x="198444" y="442898"/>
                </a:lnTo>
                <a:lnTo>
                  <a:pt x="250011" y="453516"/>
                </a:lnTo>
                <a:lnTo>
                  <a:pt x="304800" y="457200"/>
                </a:lnTo>
                <a:lnTo>
                  <a:pt x="359588" y="453516"/>
                </a:lnTo>
                <a:lnTo>
                  <a:pt x="411155" y="442898"/>
                </a:lnTo>
                <a:lnTo>
                  <a:pt x="458639" y="425989"/>
                </a:lnTo>
                <a:lnTo>
                  <a:pt x="501179" y="403435"/>
                </a:lnTo>
                <a:lnTo>
                  <a:pt x="537915" y="375883"/>
                </a:lnTo>
                <a:lnTo>
                  <a:pt x="567986" y="343978"/>
                </a:lnTo>
                <a:lnTo>
                  <a:pt x="590531" y="308365"/>
                </a:lnTo>
                <a:lnTo>
                  <a:pt x="604689" y="269690"/>
                </a:lnTo>
                <a:lnTo>
                  <a:pt x="609600" y="228600"/>
                </a:lnTo>
                <a:lnTo>
                  <a:pt x="604689" y="187509"/>
                </a:lnTo>
                <a:lnTo>
                  <a:pt x="590531" y="148834"/>
                </a:lnTo>
                <a:lnTo>
                  <a:pt x="567986" y="113221"/>
                </a:lnTo>
                <a:lnTo>
                  <a:pt x="537915" y="81316"/>
                </a:lnTo>
                <a:lnTo>
                  <a:pt x="501179" y="53764"/>
                </a:lnTo>
                <a:lnTo>
                  <a:pt x="458639" y="31210"/>
                </a:lnTo>
                <a:lnTo>
                  <a:pt x="411155" y="14301"/>
                </a:lnTo>
                <a:lnTo>
                  <a:pt x="359588" y="3683"/>
                </a:lnTo>
                <a:lnTo>
                  <a:pt x="30480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dirty="0"/>
              <a:t>Project</a:t>
            </a:r>
            <a:r>
              <a:rPr spc="-45" dirty="0"/>
              <a:t> </a:t>
            </a:r>
            <a:r>
              <a:rPr dirty="0"/>
              <a:t>Review</a:t>
            </a:r>
            <a:r>
              <a:rPr spc="-30" dirty="0"/>
              <a:t> </a:t>
            </a:r>
            <a:r>
              <a:rPr dirty="0"/>
              <a:t>-</a:t>
            </a:r>
            <a:r>
              <a:rPr spc="-55" dirty="0"/>
              <a:t> </a:t>
            </a:r>
            <a:r>
              <a:rPr spc="-50" dirty="0"/>
              <a:t>I</a:t>
            </a: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EBA07FFD-B1BE-F816-09FE-9379537318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11" y="1446397"/>
            <a:ext cx="11194289" cy="41972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dirty="0"/>
              <a:t>Traditional perimeter-based security is insufficient against insider threats, lateral movement, and advanced persistent attacks, requiring continuous Zero Trust enforcement.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dirty="0" err="1"/>
              <a:t>ZenGuard</a:t>
            </a:r>
            <a:r>
              <a:rPr lang="en-US" dirty="0"/>
              <a:t> integrates SIEM, UEBA (Isolation Forest), and adaptive SOAR playbooks into a unified, vendor-neutral security automation framework.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dirty="0"/>
              <a:t>Behavioral risk scoring dynamically triggers MFA enforcement, endpoint isolation, IP blocking, and privilege revocation across identity, device, and network layers.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dirty="0"/>
              <a:t>Experimental evaluation demonstrates sub-10-second MTTR for network attacks and reduced false positives compared to static SIEM–SOAR systems.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dirty="0"/>
              <a:t>The framework provides scalable, explainable, and NIST SP 800-207–aligned Zero Trust automation for modern enterprise environments.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533400" y="95837"/>
            <a:ext cx="10224262" cy="1210487"/>
          </a:xfrm>
          <a:prstGeom prst="rect">
            <a:avLst/>
          </a:prstGeom>
        </p:spPr>
        <p:txBody>
          <a:bodyPr vert="horz" wrap="square" lIns="0" tIns="584504" rIns="0" bIns="0" rtlCol="0">
            <a:spAutoFit/>
          </a:bodyPr>
          <a:lstStyle/>
          <a:p>
            <a:pPr marL="1036955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chemeClr val="accent1"/>
                </a:solidFill>
                <a:latin typeface="Times New Roman"/>
                <a:cs typeface="Times New Roman"/>
              </a:rPr>
              <a:t>Base</a:t>
            </a:r>
            <a:r>
              <a:rPr spc="-90" dirty="0">
                <a:solidFill>
                  <a:schemeClr val="accent1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accent1"/>
                </a:solidFill>
                <a:latin typeface="Times New Roman"/>
                <a:cs typeface="Times New Roman"/>
              </a:rPr>
              <a:t>paper</a:t>
            </a:r>
            <a:r>
              <a:rPr spc="-85" dirty="0">
                <a:solidFill>
                  <a:schemeClr val="accent1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chemeClr val="accent1"/>
                </a:solidFill>
                <a:latin typeface="Times New Roman"/>
                <a:cs typeface="Times New Roman"/>
              </a:rPr>
              <a:t>Details</a:t>
            </a:r>
          </a:p>
        </p:txBody>
      </p:sp>
      <p:sp>
        <p:nvSpPr>
          <p:cNvPr id="3" name="object 3"/>
          <p:cNvSpPr/>
          <p:nvPr/>
        </p:nvSpPr>
        <p:spPr>
          <a:xfrm>
            <a:off x="195071" y="6210300"/>
            <a:ext cx="609600" cy="457200"/>
          </a:xfrm>
          <a:custGeom>
            <a:avLst/>
            <a:gdLst/>
            <a:ahLst/>
            <a:cxnLst/>
            <a:rect l="l" t="t" r="r" b="b"/>
            <a:pathLst>
              <a:path w="609600" h="457200">
                <a:moveTo>
                  <a:pt x="304800" y="0"/>
                </a:moveTo>
                <a:lnTo>
                  <a:pt x="250011" y="3683"/>
                </a:lnTo>
                <a:lnTo>
                  <a:pt x="198444" y="14301"/>
                </a:lnTo>
                <a:lnTo>
                  <a:pt x="150960" y="31210"/>
                </a:lnTo>
                <a:lnTo>
                  <a:pt x="108420" y="53764"/>
                </a:lnTo>
                <a:lnTo>
                  <a:pt x="71684" y="81316"/>
                </a:lnTo>
                <a:lnTo>
                  <a:pt x="41613" y="113221"/>
                </a:lnTo>
                <a:lnTo>
                  <a:pt x="19068" y="148834"/>
                </a:lnTo>
                <a:lnTo>
                  <a:pt x="4910" y="187509"/>
                </a:lnTo>
                <a:lnTo>
                  <a:pt x="0" y="228600"/>
                </a:lnTo>
                <a:lnTo>
                  <a:pt x="4910" y="269690"/>
                </a:lnTo>
                <a:lnTo>
                  <a:pt x="19068" y="308365"/>
                </a:lnTo>
                <a:lnTo>
                  <a:pt x="41613" y="343978"/>
                </a:lnTo>
                <a:lnTo>
                  <a:pt x="71684" y="375883"/>
                </a:lnTo>
                <a:lnTo>
                  <a:pt x="108420" y="403435"/>
                </a:lnTo>
                <a:lnTo>
                  <a:pt x="150960" y="425989"/>
                </a:lnTo>
                <a:lnTo>
                  <a:pt x="198444" y="442898"/>
                </a:lnTo>
                <a:lnTo>
                  <a:pt x="250011" y="453516"/>
                </a:lnTo>
                <a:lnTo>
                  <a:pt x="304800" y="457200"/>
                </a:lnTo>
                <a:lnTo>
                  <a:pt x="359588" y="453516"/>
                </a:lnTo>
                <a:lnTo>
                  <a:pt x="411155" y="442898"/>
                </a:lnTo>
                <a:lnTo>
                  <a:pt x="458639" y="425989"/>
                </a:lnTo>
                <a:lnTo>
                  <a:pt x="501179" y="403435"/>
                </a:lnTo>
                <a:lnTo>
                  <a:pt x="537915" y="375883"/>
                </a:lnTo>
                <a:lnTo>
                  <a:pt x="567986" y="343978"/>
                </a:lnTo>
                <a:lnTo>
                  <a:pt x="590531" y="308365"/>
                </a:lnTo>
                <a:lnTo>
                  <a:pt x="604689" y="269690"/>
                </a:lnTo>
                <a:lnTo>
                  <a:pt x="609600" y="228600"/>
                </a:lnTo>
                <a:lnTo>
                  <a:pt x="604689" y="187509"/>
                </a:lnTo>
                <a:lnTo>
                  <a:pt x="590531" y="148834"/>
                </a:lnTo>
                <a:lnTo>
                  <a:pt x="567986" y="113221"/>
                </a:lnTo>
                <a:lnTo>
                  <a:pt x="537915" y="81316"/>
                </a:lnTo>
                <a:lnTo>
                  <a:pt x="501179" y="53764"/>
                </a:lnTo>
                <a:lnTo>
                  <a:pt x="458639" y="31210"/>
                </a:lnTo>
                <a:lnTo>
                  <a:pt x="411155" y="14301"/>
                </a:lnTo>
                <a:lnTo>
                  <a:pt x="359588" y="3683"/>
                </a:lnTo>
                <a:lnTo>
                  <a:pt x="30480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dirty="0"/>
              <a:t>Project</a:t>
            </a:r>
            <a:r>
              <a:rPr spc="-45" dirty="0"/>
              <a:t> </a:t>
            </a:r>
            <a:r>
              <a:rPr dirty="0"/>
              <a:t>Review</a:t>
            </a:r>
            <a:r>
              <a:rPr spc="-30" dirty="0"/>
              <a:t> </a:t>
            </a:r>
            <a:r>
              <a:rPr dirty="0"/>
              <a:t>-</a:t>
            </a:r>
            <a:r>
              <a:rPr spc="-55" dirty="0"/>
              <a:t> </a:t>
            </a:r>
            <a:r>
              <a:rPr spc="-50" dirty="0"/>
              <a:t>I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33F56F-3C3A-50A4-698A-17C9E2FE1015}"/>
              </a:ext>
            </a:extLst>
          </p:cNvPr>
          <p:cNvSpPr txBox="1"/>
          <p:nvPr/>
        </p:nvSpPr>
        <p:spPr>
          <a:xfrm>
            <a:off x="472657" y="1524000"/>
            <a:ext cx="11082529" cy="2805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Hassan, A., Rauf, A., Shafqat, N., Latif, R., &amp; Khan, H. (2025).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ZenGuard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machine learning–based Zero Trust framework for context-aware threat mitigation using SIEM, SOAR, and UEBA.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Scientific Reports, 15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35871.</a:t>
            </a:r>
          </a:p>
          <a:p>
            <a:pPr marL="3429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Paper Link: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https://doi.org/10.1038/s41598-025-20998-4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Indexed in: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Scopus and Web of Science (SCI Expanded)</a:t>
            </a:r>
          </a:p>
          <a:p>
            <a:pPr marL="3429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 of Journal Base Paper Publication: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2025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9871" y="95837"/>
            <a:ext cx="10224262" cy="1210487"/>
          </a:xfrm>
          <a:prstGeom prst="rect">
            <a:avLst/>
          </a:prstGeom>
        </p:spPr>
        <p:txBody>
          <a:bodyPr vert="horz" wrap="square" lIns="0" tIns="507923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95"/>
              </a:spcBef>
            </a:pPr>
            <a:r>
              <a:rPr spc="254" dirty="0"/>
              <a:t>Literature</a:t>
            </a:r>
            <a:r>
              <a:rPr spc="310" dirty="0"/>
              <a:t> </a:t>
            </a:r>
            <a:r>
              <a:rPr spc="305" dirty="0"/>
              <a:t>Survey</a:t>
            </a:r>
          </a:p>
        </p:txBody>
      </p:sp>
      <p:sp>
        <p:nvSpPr>
          <p:cNvPr id="4" name="object 4"/>
          <p:cNvSpPr/>
          <p:nvPr/>
        </p:nvSpPr>
        <p:spPr>
          <a:xfrm>
            <a:off x="195071" y="6210300"/>
            <a:ext cx="609600" cy="457200"/>
          </a:xfrm>
          <a:custGeom>
            <a:avLst/>
            <a:gdLst/>
            <a:ahLst/>
            <a:cxnLst/>
            <a:rect l="l" t="t" r="r" b="b"/>
            <a:pathLst>
              <a:path w="609600" h="457200">
                <a:moveTo>
                  <a:pt x="304800" y="0"/>
                </a:moveTo>
                <a:lnTo>
                  <a:pt x="250011" y="3683"/>
                </a:lnTo>
                <a:lnTo>
                  <a:pt x="198444" y="14301"/>
                </a:lnTo>
                <a:lnTo>
                  <a:pt x="150960" y="31210"/>
                </a:lnTo>
                <a:lnTo>
                  <a:pt x="108420" y="53764"/>
                </a:lnTo>
                <a:lnTo>
                  <a:pt x="71684" y="81316"/>
                </a:lnTo>
                <a:lnTo>
                  <a:pt x="41613" y="113221"/>
                </a:lnTo>
                <a:lnTo>
                  <a:pt x="19068" y="148834"/>
                </a:lnTo>
                <a:lnTo>
                  <a:pt x="4910" y="187509"/>
                </a:lnTo>
                <a:lnTo>
                  <a:pt x="0" y="228600"/>
                </a:lnTo>
                <a:lnTo>
                  <a:pt x="4910" y="269690"/>
                </a:lnTo>
                <a:lnTo>
                  <a:pt x="19068" y="308365"/>
                </a:lnTo>
                <a:lnTo>
                  <a:pt x="41613" y="343978"/>
                </a:lnTo>
                <a:lnTo>
                  <a:pt x="71684" y="375883"/>
                </a:lnTo>
                <a:lnTo>
                  <a:pt x="108420" y="403435"/>
                </a:lnTo>
                <a:lnTo>
                  <a:pt x="150960" y="425989"/>
                </a:lnTo>
                <a:lnTo>
                  <a:pt x="198444" y="442898"/>
                </a:lnTo>
                <a:lnTo>
                  <a:pt x="250011" y="453516"/>
                </a:lnTo>
                <a:lnTo>
                  <a:pt x="304800" y="457200"/>
                </a:lnTo>
                <a:lnTo>
                  <a:pt x="359588" y="453516"/>
                </a:lnTo>
                <a:lnTo>
                  <a:pt x="411155" y="442898"/>
                </a:lnTo>
                <a:lnTo>
                  <a:pt x="458639" y="425989"/>
                </a:lnTo>
                <a:lnTo>
                  <a:pt x="501179" y="403435"/>
                </a:lnTo>
                <a:lnTo>
                  <a:pt x="537915" y="375883"/>
                </a:lnTo>
                <a:lnTo>
                  <a:pt x="567986" y="343978"/>
                </a:lnTo>
                <a:lnTo>
                  <a:pt x="590531" y="308365"/>
                </a:lnTo>
                <a:lnTo>
                  <a:pt x="604689" y="269690"/>
                </a:lnTo>
                <a:lnTo>
                  <a:pt x="609600" y="228600"/>
                </a:lnTo>
                <a:lnTo>
                  <a:pt x="604689" y="187509"/>
                </a:lnTo>
                <a:lnTo>
                  <a:pt x="590531" y="148834"/>
                </a:lnTo>
                <a:lnTo>
                  <a:pt x="567986" y="113221"/>
                </a:lnTo>
                <a:lnTo>
                  <a:pt x="537915" y="81316"/>
                </a:lnTo>
                <a:lnTo>
                  <a:pt x="501179" y="53764"/>
                </a:lnTo>
                <a:lnTo>
                  <a:pt x="458639" y="31210"/>
                </a:lnTo>
                <a:lnTo>
                  <a:pt x="411155" y="14301"/>
                </a:lnTo>
                <a:lnTo>
                  <a:pt x="359588" y="3683"/>
                </a:lnTo>
                <a:lnTo>
                  <a:pt x="30480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dirty="0"/>
              <a:t>Project</a:t>
            </a:r>
            <a:r>
              <a:rPr spc="-45" dirty="0"/>
              <a:t> </a:t>
            </a:r>
            <a:r>
              <a:rPr dirty="0"/>
              <a:t>Review</a:t>
            </a:r>
            <a:r>
              <a:rPr spc="-30" dirty="0"/>
              <a:t> </a:t>
            </a:r>
            <a:r>
              <a:rPr dirty="0"/>
              <a:t>-</a:t>
            </a:r>
            <a:r>
              <a:rPr spc="-55" dirty="0"/>
              <a:t> </a:t>
            </a:r>
            <a:r>
              <a:rPr spc="-50" dirty="0"/>
              <a:t>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D2F5A0-938D-9B1B-8E31-FF006491DD94}"/>
              </a:ext>
            </a:extLst>
          </p:cNvPr>
          <p:cNvSpPr txBox="1"/>
          <p:nvPr/>
        </p:nvSpPr>
        <p:spPr>
          <a:xfrm>
            <a:off x="611631" y="1427557"/>
            <a:ext cx="10930129" cy="2345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 Trust Security Model (Palo Alto Networks Whitepaper, 2024)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perspective on Zero Trust implementation strategies and micro-segmentation.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Drawback: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Vendor-specific and lacks open, ML-driven automation frameworks.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Vendor-neutral, API-first Zero Trust architectures address interoperability limitations.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link: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https://www.paloaltonetworks.com/zero-trust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0A16A-E282-6B3F-37C9-EAD648583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C0387DBD-DC71-7DE5-6022-9A1B1CA077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9871" y="95837"/>
            <a:ext cx="10224262" cy="1210487"/>
          </a:xfrm>
          <a:prstGeom prst="rect">
            <a:avLst/>
          </a:prstGeom>
        </p:spPr>
        <p:txBody>
          <a:bodyPr vert="horz" wrap="square" lIns="0" tIns="507923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95"/>
              </a:spcBef>
            </a:pPr>
            <a:r>
              <a:rPr spc="254" dirty="0"/>
              <a:t>Literature</a:t>
            </a:r>
            <a:r>
              <a:rPr spc="310" dirty="0"/>
              <a:t> </a:t>
            </a:r>
            <a:r>
              <a:rPr spc="305" dirty="0"/>
              <a:t>Survey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E1BFDAA-2FF9-B06F-D578-081738346065}"/>
              </a:ext>
            </a:extLst>
          </p:cNvPr>
          <p:cNvSpPr/>
          <p:nvPr/>
        </p:nvSpPr>
        <p:spPr>
          <a:xfrm>
            <a:off x="195071" y="6210300"/>
            <a:ext cx="609600" cy="457200"/>
          </a:xfrm>
          <a:custGeom>
            <a:avLst/>
            <a:gdLst/>
            <a:ahLst/>
            <a:cxnLst/>
            <a:rect l="l" t="t" r="r" b="b"/>
            <a:pathLst>
              <a:path w="609600" h="457200">
                <a:moveTo>
                  <a:pt x="304800" y="0"/>
                </a:moveTo>
                <a:lnTo>
                  <a:pt x="250011" y="3683"/>
                </a:lnTo>
                <a:lnTo>
                  <a:pt x="198444" y="14301"/>
                </a:lnTo>
                <a:lnTo>
                  <a:pt x="150960" y="31210"/>
                </a:lnTo>
                <a:lnTo>
                  <a:pt x="108420" y="53764"/>
                </a:lnTo>
                <a:lnTo>
                  <a:pt x="71684" y="81316"/>
                </a:lnTo>
                <a:lnTo>
                  <a:pt x="41613" y="113221"/>
                </a:lnTo>
                <a:lnTo>
                  <a:pt x="19068" y="148834"/>
                </a:lnTo>
                <a:lnTo>
                  <a:pt x="4910" y="187509"/>
                </a:lnTo>
                <a:lnTo>
                  <a:pt x="0" y="228600"/>
                </a:lnTo>
                <a:lnTo>
                  <a:pt x="4910" y="269690"/>
                </a:lnTo>
                <a:lnTo>
                  <a:pt x="19068" y="308365"/>
                </a:lnTo>
                <a:lnTo>
                  <a:pt x="41613" y="343978"/>
                </a:lnTo>
                <a:lnTo>
                  <a:pt x="71684" y="375883"/>
                </a:lnTo>
                <a:lnTo>
                  <a:pt x="108420" y="403435"/>
                </a:lnTo>
                <a:lnTo>
                  <a:pt x="150960" y="425989"/>
                </a:lnTo>
                <a:lnTo>
                  <a:pt x="198444" y="442898"/>
                </a:lnTo>
                <a:lnTo>
                  <a:pt x="250011" y="453516"/>
                </a:lnTo>
                <a:lnTo>
                  <a:pt x="304800" y="457200"/>
                </a:lnTo>
                <a:lnTo>
                  <a:pt x="359588" y="453516"/>
                </a:lnTo>
                <a:lnTo>
                  <a:pt x="411155" y="442898"/>
                </a:lnTo>
                <a:lnTo>
                  <a:pt x="458639" y="425989"/>
                </a:lnTo>
                <a:lnTo>
                  <a:pt x="501179" y="403435"/>
                </a:lnTo>
                <a:lnTo>
                  <a:pt x="537915" y="375883"/>
                </a:lnTo>
                <a:lnTo>
                  <a:pt x="567986" y="343978"/>
                </a:lnTo>
                <a:lnTo>
                  <a:pt x="590531" y="308365"/>
                </a:lnTo>
                <a:lnTo>
                  <a:pt x="604689" y="269690"/>
                </a:lnTo>
                <a:lnTo>
                  <a:pt x="609600" y="228600"/>
                </a:lnTo>
                <a:lnTo>
                  <a:pt x="604689" y="187509"/>
                </a:lnTo>
                <a:lnTo>
                  <a:pt x="590531" y="148834"/>
                </a:lnTo>
                <a:lnTo>
                  <a:pt x="567986" y="113221"/>
                </a:lnTo>
                <a:lnTo>
                  <a:pt x="537915" y="81316"/>
                </a:lnTo>
                <a:lnTo>
                  <a:pt x="501179" y="53764"/>
                </a:lnTo>
                <a:lnTo>
                  <a:pt x="458639" y="31210"/>
                </a:lnTo>
                <a:lnTo>
                  <a:pt x="411155" y="14301"/>
                </a:lnTo>
                <a:lnTo>
                  <a:pt x="359588" y="3683"/>
                </a:lnTo>
                <a:lnTo>
                  <a:pt x="30480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DA2E99E0-3C5C-0620-1715-169E23E86791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1949D228-5D75-5186-9346-F569FB5CE8F6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dirty="0"/>
              <a:t>Project</a:t>
            </a:r>
            <a:r>
              <a:rPr spc="-45" dirty="0"/>
              <a:t> </a:t>
            </a:r>
            <a:r>
              <a:rPr dirty="0"/>
              <a:t>Review</a:t>
            </a:r>
            <a:r>
              <a:rPr spc="-30" dirty="0"/>
              <a:t> </a:t>
            </a:r>
            <a:r>
              <a:rPr dirty="0"/>
              <a:t>-</a:t>
            </a:r>
            <a:r>
              <a:rPr spc="-55" dirty="0"/>
              <a:t> </a:t>
            </a:r>
            <a:r>
              <a:rPr spc="-50" dirty="0"/>
              <a:t>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3D78E2-18BA-9B3F-D43A-8B1C8783CE31}"/>
              </a:ext>
            </a:extLst>
          </p:cNvPr>
          <p:cNvSpPr txBox="1"/>
          <p:nvPr/>
        </p:nvSpPr>
        <p:spPr>
          <a:xfrm>
            <a:off x="598024" y="1285485"/>
            <a:ext cx="11398905" cy="5115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in SIEM: A Survey on Intelligent Event Correlation and Anomaly Detection (2025, ResearchGate Preprint)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Reviews ML techniques applied in SIEM systems for event correlation, anomaly detection, and alert prioritization in SOC environments.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Drawback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Primarily focuses on detection enhancement without integrating Zero Trust enforcement or adaptive SOAR automation.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gap exists in converting ML-based SIEM insights into real-time, risk-aware enforcement mechanisms.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Source-link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https://www.researchgate.net/publication/398679746_MACHINE_LEARNING_IN_SIEM_A_SURVEY_ON_INTELLIGENT_EVENT_CORRELATION_AND_ANOMALY_DETECTION</a:t>
            </a:r>
          </a:p>
        </p:txBody>
      </p:sp>
    </p:spTree>
    <p:extLst>
      <p:ext uri="{BB962C8B-B14F-4D97-AF65-F5344CB8AC3E}">
        <p14:creationId xmlns:p14="http://schemas.microsoft.com/office/powerpoint/2010/main" val="2248659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5D8D2-8543-FCAF-DC03-6A80B4502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66BD718-64FA-77BB-BC24-F1336AB4DB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9871" y="95837"/>
            <a:ext cx="10224262" cy="1210487"/>
          </a:xfrm>
          <a:prstGeom prst="rect">
            <a:avLst/>
          </a:prstGeom>
        </p:spPr>
        <p:txBody>
          <a:bodyPr vert="horz" wrap="square" lIns="0" tIns="507923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95"/>
              </a:spcBef>
            </a:pPr>
            <a:r>
              <a:rPr spc="254" dirty="0"/>
              <a:t>Literature</a:t>
            </a:r>
            <a:r>
              <a:rPr spc="310" dirty="0"/>
              <a:t> </a:t>
            </a:r>
            <a:r>
              <a:rPr spc="305" dirty="0"/>
              <a:t>Survey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6DF4801-9989-18E6-5E4D-4E9E0E8E0F1C}"/>
              </a:ext>
            </a:extLst>
          </p:cNvPr>
          <p:cNvSpPr/>
          <p:nvPr/>
        </p:nvSpPr>
        <p:spPr>
          <a:xfrm>
            <a:off x="195071" y="6210300"/>
            <a:ext cx="609600" cy="457200"/>
          </a:xfrm>
          <a:custGeom>
            <a:avLst/>
            <a:gdLst/>
            <a:ahLst/>
            <a:cxnLst/>
            <a:rect l="l" t="t" r="r" b="b"/>
            <a:pathLst>
              <a:path w="609600" h="457200">
                <a:moveTo>
                  <a:pt x="304800" y="0"/>
                </a:moveTo>
                <a:lnTo>
                  <a:pt x="250011" y="3683"/>
                </a:lnTo>
                <a:lnTo>
                  <a:pt x="198444" y="14301"/>
                </a:lnTo>
                <a:lnTo>
                  <a:pt x="150960" y="31210"/>
                </a:lnTo>
                <a:lnTo>
                  <a:pt x="108420" y="53764"/>
                </a:lnTo>
                <a:lnTo>
                  <a:pt x="71684" y="81316"/>
                </a:lnTo>
                <a:lnTo>
                  <a:pt x="41613" y="113221"/>
                </a:lnTo>
                <a:lnTo>
                  <a:pt x="19068" y="148834"/>
                </a:lnTo>
                <a:lnTo>
                  <a:pt x="4910" y="187509"/>
                </a:lnTo>
                <a:lnTo>
                  <a:pt x="0" y="228600"/>
                </a:lnTo>
                <a:lnTo>
                  <a:pt x="4910" y="269690"/>
                </a:lnTo>
                <a:lnTo>
                  <a:pt x="19068" y="308365"/>
                </a:lnTo>
                <a:lnTo>
                  <a:pt x="41613" y="343978"/>
                </a:lnTo>
                <a:lnTo>
                  <a:pt x="71684" y="375883"/>
                </a:lnTo>
                <a:lnTo>
                  <a:pt x="108420" y="403435"/>
                </a:lnTo>
                <a:lnTo>
                  <a:pt x="150960" y="425989"/>
                </a:lnTo>
                <a:lnTo>
                  <a:pt x="198444" y="442898"/>
                </a:lnTo>
                <a:lnTo>
                  <a:pt x="250011" y="453516"/>
                </a:lnTo>
                <a:lnTo>
                  <a:pt x="304800" y="457200"/>
                </a:lnTo>
                <a:lnTo>
                  <a:pt x="359588" y="453516"/>
                </a:lnTo>
                <a:lnTo>
                  <a:pt x="411155" y="442898"/>
                </a:lnTo>
                <a:lnTo>
                  <a:pt x="458639" y="425989"/>
                </a:lnTo>
                <a:lnTo>
                  <a:pt x="501179" y="403435"/>
                </a:lnTo>
                <a:lnTo>
                  <a:pt x="537915" y="375883"/>
                </a:lnTo>
                <a:lnTo>
                  <a:pt x="567986" y="343978"/>
                </a:lnTo>
                <a:lnTo>
                  <a:pt x="590531" y="308365"/>
                </a:lnTo>
                <a:lnTo>
                  <a:pt x="604689" y="269690"/>
                </a:lnTo>
                <a:lnTo>
                  <a:pt x="609600" y="228600"/>
                </a:lnTo>
                <a:lnTo>
                  <a:pt x="604689" y="187509"/>
                </a:lnTo>
                <a:lnTo>
                  <a:pt x="590531" y="148834"/>
                </a:lnTo>
                <a:lnTo>
                  <a:pt x="567986" y="113221"/>
                </a:lnTo>
                <a:lnTo>
                  <a:pt x="537915" y="81316"/>
                </a:lnTo>
                <a:lnTo>
                  <a:pt x="501179" y="53764"/>
                </a:lnTo>
                <a:lnTo>
                  <a:pt x="458639" y="31210"/>
                </a:lnTo>
                <a:lnTo>
                  <a:pt x="411155" y="14301"/>
                </a:lnTo>
                <a:lnTo>
                  <a:pt x="359588" y="3683"/>
                </a:lnTo>
                <a:lnTo>
                  <a:pt x="30480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2A1C3CEF-DA7D-1E96-9BEB-67C8265541F5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945AD390-8E08-DC2C-B79E-9739625966D7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dirty="0"/>
              <a:t>Project</a:t>
            </a:r>
            <a:r>
              <a:rPr spc="-45" dirty="0"/>
              <a:t> </a:t>
            </a:r>
            <a:r>
              <a:rPr dirty="0"/>
              <a:t>Review</a:t>
            </a:r>
            <a:r>
              <a:rPr spc="-30" dirty="0"/>
              <a:t> </a:t>
            </a:r>
            <a:r>
              <a:rPr dirty="0"/>
              <a:t>-</a:t>
            </a:r>
            <a:r>
              <a:rPr spc="-55" dirty="0"/>
              <a:t> </a:t>
            </a:r>
            <a:r>
              <a:rPr spc="-50" dirty="0"/>
              <a:t>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F464E4-2888-93A7-DEEF-8ECE5EC3E788}"/>
              </a:ext>
            </a:extLst>
          </p:cNvPr>
          <p:cNvSpPr txBox="1"/>
          <p:nvPr/>
        </p:nvSpPr>
        <p:spPr>
          <a:xfrm>
            <a:off x="521642" y="1563841"/>
            <a:ext cx="10930129" cy="3730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 Trust Architecture: A Comprehensive Survey (2021,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Provides a detailed survey of Zero Trust models, architectural components, and deployment strategies across enterprise environments.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Drawback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Emphasizes architectural theory but lacks operational ML-based behavioral scoring integration.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There is scope for integrating Zero Trust with explainable UEBA and automated SOAR playbooks.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https://arxiv.org/abs/2105.02334</a:t>
            </a:r>
          </a:p>
        </p:txBody>
      </p:sp>
    </p:spTree>
    <p:extLst>
      <p:ext uri="{BB962C8B-B14F-4D97-AF65-F5344CB8AC3E}">
        <p14:creationId xmlns:p14="http://schemas.microsoft.com/office/powerpoint/2010/main" val="4101917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4DB44-25D5-9E71-839E-D5C335493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3327BBAA-B960-EE09-032F-4534021DF4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9871" y="95837"/>
            <a:ext cx="10224262" cy="1210487"/>
          </a:xfrm>
          <a:prstGeom prst="rect">
            <a:avLst/>
          </a:prstGeom>
        </p:spPr>
        <p:txBody>
          <a:bodyPr vert="horz" wrap="square" lIns="0" tIns="507923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95"/>
              </a:spcBef>
            </a:pPr>
            <a:r>
              <a:rPr spc="254" dirty="0"/>
              <a:t>Literature</a:t>
            </a:r>
            <a:r>
              <a:rPr spc="310" dirty="0"/>
              <a:t> </a:t>
            </a:r>
            <a:r>
              <a:rPr spc="305" dirty="0"/>
              <a:t>Survey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BC0CA7C-81B5-E7C7-1859-AA85B14299BC}"/>
              </a:ext>
            </a:extLst>
          </p:cNvPr>
          <p:cNvSpPr/>
          <p:nvPr/>
        </p:nvSpPr>
        <p:spPr>
          <a:xfrm>
            <a:off x="195071" y="6210300"/>
            <a:ext cx="609600" cy="457200"/>
          </a:xfrm>
          <a:custGeom>
            <a:avLst/>
            <a:gdLst/>
            <a:ahLst/>
            <a:cxnLst/>
            <a:rect l="l" t="t" r="r" b="b"/>
            <a:pathLst>
              <a:path w="609600" h="457200">
                <a:moveTo>
                  <a:pt x="304800" y="0"/>
                </a:moveTo>
                <a:lnTo>
                  <a:pt x="250011" y="3683"/>
                </a:lnTo>
                <a:lnTo>
                  <a:pt x="198444" y="14301"/>
                </a:lnTo>
                <a:lnTo>
                  <a:pt x="150960" y="31210"/>
                </a:lnTo>
                <a:lnTo>
                  <a:pt x="108420" y="53764"/>
                </a:lnTo>
                <a:lnTo>
                  <a:pt x="71684" y="81316"/>
                </a:lnTo>
                <a:lnTo>
                  <a:pt x="41613" y="113221"/>
                </a:lnTo>
                <a:lnTo>
                  <a:pt x="19068" y="148834"/>
                </a:lnTo>
                <a:lnTo>
                  <a:pt x="4910" y="187509"/>
                </a:lnTo>
                <a:lnTo>
                  <a:pt x="0" y="228600"/>
                </a:lnTo>
                <a:lnTo>
                  <a:pt x="4910" y="269690"/>
                </a:lnTo>
                <a:lnTo>
                  <a:pt x="19068" y="308365"/>
                </a:lnTo>
                <a:lnTo>
                  <a:pt x="41613" y="343978"/>
                </a:lnTo>
                <a:lnTo>
                  <a:pt x="71684" y="375883"/>
                </a:lnTo>
                <a:lnTo>
                  <a:pt x="108420" y="403435"/>
                </a:lnTo>
                <a:lnTo>
                  <a:pt x="150960" y="425989"/>
                </a:lnTo>
                <a:lnTo>
                  <a:pt x="198444" y="442898"/>
                </a:lnTo>
                <a:lnTo>
                  <a:pt x="250011" y="453516"/>
                </a:lnTo>
                <a:lnTo>
                  <a:pt x="304800" y="457200"/>
                </a:lnTo>
                <a:lnTo>
                  <a:pt x="359588" y="453516"/>
                </a:lnTo>
                <a:lnTo>
                  <a:pt x="411155" y="442898"/>
                </a:lnTo>
                <a:lnTo>
                  <a:pt x="458639" y="425989"/>
                </a:lnTo>
                <a:lnTo>
                  <a:pt x="501179" y="403435"/>
                </a:lnTo>
                <a:lnTo>
                  <a:pt x="537915" y="375883"/>
                </a:lnTo>
                <a:lnTo>
                  <a:pt x="567986" y="343978"/>
                </a:lnTo>
                <a:lnTo>
                  <a:pt x="590531" y="308365"/>
                </a:lnTo>
                <a:lnTo>
                  <a:pt x="604689" y="269690"/>
                </a:lnTo>
                <a:lnTo>
                  <a:pt x="609600" y="228600"/>
                </a:lnTo>
                <a:lnTo>
                  <a:pt x="604689" y="187509"/>
                </a:lnTo>
                <a:lnTo>
                  <a:pt x="590531" y="148834"/>
                </a:lnTo>
                <a:lnTo>
                  <a:pt x="567986" y="113221"/>
                </a:lnTo>
                <a:lnTo>
                  <a:pt x="537915" y="81316"/>
                </a:lnTo>
                <a:lnTo>
                  <a:pt x="501179" y="53764"/>
                </a:lnTo>
                <a:lnTo>
                  <a:pt x="458639" y="31210"/>
                </a:lnTo>
                <a:lnTo>
                  <a:pt x="411155" y="14301"/>
                </a:lnTo>
                <a:lnTo>
                  <a:pt x="359588" y="3683"/>
                </a:lnTo>
                <a:lnTo>
                  <a:pt x="30480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DA31CF8F-D183-A152-926B-632D812FE4A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EB6EE001-8B12-3A7E-9C42-503A91C20E82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dirty="0"/>
              <a:t>Project</a:t>
            </a:r>
            <a:r>
              <a:rPr spc="-45" dirty="0"/>
              <a:t> </a:t>
            </a:r>
            <a:r>
              <a:rPr dirty="0"/>
              <a:t>Review</a:t>
            </a:r>
            <a:r>
              <a:rPr spc="-30" dirty="0"/>
              <a:t> </a:t>
            </a:r>
            <a:r>
              <a:rPr dirty="0"/>
              <a:t>-</a:t>
            </a:r>
            <a:r>
              <a:rPr spc="-55" dirty="0"/>
              <a:t> </a:t>
            </a:r>
            <a:r>
              <a:rPr spc="-50" dirty="0"/>
              <a:t>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8DB445-5227-13A5-F5BC-5FF8714E9D75}"/>
              </a:ext>
            </a:extLst>
          </p:cNvPr>
          <p:cNvSpPr txBox="1"/>
          <p:nvPr/>
        </p:nvSpPr>
        <p:spPr>
          <a:xfrm>
            <a:off x="521642" y="1600200"/>
            <a:ext cx="11213158" cy="3268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Reducing the Risk of Social Engineering Attacks Using SOAR Measures (2024, Computers &amp; Security, Elsevier)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Evaluates SOAR-driven automation for mitigating social engineering and phishing attacks in enterprise SOC setups.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Drawback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Uses largely static playbooks without context-aware behavioral risk scoring.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Adaptive, ML-informed playbooks can improve contextual response precision.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https://www.sciencedirect.com/science/article/pii/S0167404824004425</a:t>
            </a:r>
          </a:p>
        </p:txBody>
      </p:sp>
    </p:spTree>
    <p:extLst>
      <p:ext uri="{BB962C8B-B14F-4D97-AF65-F5344CB8AC3E}">
        <p14:creationId xmlns:p14="http://schemas.microsoft.com/office/powerpoint/2010/main" val="429801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BFD69-AAB9-AEB7-0820-A9B8FBB2D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0393EED-095F-D8AA-B31F-B36BD2C099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9871" y="95837"/>
            <a:ext cx="10224262" cy="1210487"/>
          </a:xfrm>
          <a:prstGeom prst="rect">
            <a:avLst/>
          </a:prstGeom>
        </p:spPr>
        <p:txBody>
          <a:bodyPr vert="horz" wrap="square" lIns="0" tIns="507923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95"/>
              </a:spcBef>
            </a:pPr>
            <a:r>
              <a:rPr spc="254" dirty="0"/>
              <a:t>Literature</a:t>
            </a:r>
            <a:r>
              <a:rPr spc="310" dirty="0"/>
              <a:t> </a:t>
            </a:r>
            <a:r>
              <a:rPr spc="305" dirty="0"/>
              <a:t>Survey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BB36B31-A748-5B8D-5C17-631E38CC8050}"/>
              </a:ext>
            </a:extLst>
          </p:cNvPr>
          <p:cNvSpPr/>
          <p:nvPr/>
        </p:nvSpPr>
        <p:spPr>
          <a:xfrm>
            <a:off x="195071" y="6210300"/>
            <a:ext cx="609600" cy="457200"/>
          </a:xfrm>
          <a:custGeom>
            <a:avLst/>
            <a:gdLst/>
            <a:ahLst/>
            <a:cxnLst/>
            <a:rect l="l" t="t" r="r" b="b"/>
            <a:pathLst>
              <a:path w="609600" h="457200">
                <a:moveTo>
                  <a:pt x="304800" y="0"/>
                </a:moveTo>
                <a:lnTo>
                  <a:pt x="250011" y="3683"/>
                </a:lnTo>
                <a:lnTo>
                  <a:pt x="198444" y="14301"/>
                </a:lnTo>
                <a:lnTo>
                  <a:pt x="150960" y="31210"/>
                </a:lnTo>
                <a:lnTo>
                  <a:pt x="108420" y="53764"/>
                </a:lnTo>
                <a:lnTo>
                  <a:pt x="71684" y="81316"/>
                </a:lnTo>
                <a:lnTo>
                  <a:pt x="41613" y="113221"/>
                </a:lnTo>
                <a:lnTo>
                  <a:pt x="19068" y="148834"/>
                </a:lnTo>
                <a:lnTo>
                  <a:pt x="4910" y="187509"/>
                </a:lnTo>
                <a:lnTo>
                  <a:pt x="0" y="228600"/>
                </a:lnTo>
                <a:lnTo>
                  <a:pt x="4910" y="269690"/>
                </a:lnTo>
                <a:lnTo>
                  <a:pt x="19068" y="308365"/>
                </a:lnTo>
                <a:lnTo>
                  <a:pt x="41613" y="343978"/>
                </a:lnTo>
                <a:lnTo>
                  <a:pt x="71684" y="375883"/>
                </a:lnTo>
                <a:lnTo>
                  <a:pt x="108420" y="403435"/>
                </a:lnTo>
                <a:lnTo>
                  <a:pt x="150960" y="425989"/>
                </a:lnTo>
                <a:lnTo>
                  <a:pt x="198444" y="442898"/>
                </a:lnTo>
                <a:lnTo>
                  <a:pt x="250011" y="453516"/>
                </a:lnTo>
                <a:lnTo>
                  <a:pt x="304800" y="457200"/>
                </a:lnTo>
                <a:lnTo>
                  <a:pt x="359588" y="453516"/>
                </a:lnTo>
                <a:lnTo>
                  <a:pt x="411155" y="442898"/>
                </a:lnTo>
                <a:lnTo>
                  <a:pt x="458639" y="425989"/>
                </a:lnTo>
                <a:lnTo>
                  <a:pt x="501179" y="403435"/>
                </a:lnTo>
                <a:lnTo>
                  <a:pt x="537915" y="375883"/>
                </a:lnTo>
                <a:lnTo>
                  <a:pt x="567986" y="343978"/>
                </a:lnTo>
                <a:lnTo>
                  <a:pt x="590531" y="308365"/>
                </a:lnTo>
                <a:lnTo>
                  <a:pt x="604689" y="269690"/>
                </a:lnTo>
                <a:lnTo>
                  <a:pt x="609600" y="228600"/>
                </a:lnTo>
                <a:lnTo>
                  <a:pt x="604689" y="187509"/>
                </a:lnTo>
                <a:lnTo>
                  <a:pt x="590531" y="148834"/>
                </a:lnTo>
                <a:lnTo>
                  <a:pt x="567986" y="113221"/>
                </a:lnTo>
                <a:lnTo>
                  <a:pt x="537915" y="81316"/>
                </a:lnTo>
                <a:lnTo>
                  <a:pt x="501179" y="53764"/>
                </a:lnTo>
                <a:lnTo>
                  <a:pt x="458639" y="31210"/>
                </a:lnTo>
                <a:lnTo>
                  <a:pt x="411155" y="14301"/>
                </a:lnTo>
                <a:lnTo>
                  <a:pt x="359588" y="3683"/>
                </a:lnTo>
                <a:lnTo>
                  <a:pt x="30480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5C8596DA-D8AB-3FD6-D15C-0C2B12DE9FC6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60D081A0-79BD-07FA-D5DE-396882890CB3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dirty="0"/>
              <a:t>Project</a:t>
            </a:r>
            <a:r>
              <a:rPr spc="-45" dirty="0"/>
              <a:t> </a:t>
            </a:r>
            <a:r>
              <a:rPr dirty="0"/>
              <a:t>Review</a:t>
            </a:r>
            <a:r>
              <a:rPr spc="-30" dirty="0"/>
              <a:t> </a:t>
            </a:r>
            <a:r>
              <a:rPr dirty="0"/>
              <a:t>-</a:t>
            </a:r>
            <a:r>
              <a:rPr spc="-55" dirty="0"/>
              <a:t> </a:t>
            </a:r>
            <a:r>
              <a:rPr spc="-50" dirty="0"/>
              <a:t>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7E4818-C701-326E-824A-66C7398C7EB4}"/>
              </a:ext>
            </a:extLst>
          </p:cNvPr>
          <p:cNvSpPr txBox="1"/>
          <p:nvPr/>
        </p:nvSpPr>
        <p:spPr>
          <a:xfrm>
            <a:off x="502592" y="1600200"/>
            <a:ext cx="10930129" cy="3268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Adoption of SOC Services to Global IT Service Portfolio (2024, Theseus Repository)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Discusses operational integration of SOC services and automation strategies within enterprise IT ecosystems.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Drawback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Focuses on service integration rather than behavioral anomaly detection mechanisms.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Combining SOC operational models with ML-driven UEBA enhances real-time Zero Trust compliance.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https://www.theseus.fi/handle/10024/868840</a:t>
            </a:r>
          </a:p>
        </p:txBody>
      </p:sp>
    </p:spTree>
    <p:extLst>
      <p:ext uri="{BB962C8B-B14F-4D97-AF65-F5344CB8AC3E}">
        <p14:creationId xmlns:p14="http://schemas.microsoft.com/office/powerpoint/2010/main" val="4128047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DDE37-1C7D-8DEC-C0DA-438321166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75D28B8-4543-757B-FB8C-61126380EF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9871" y="95837"/>
            <a:ext cx="10224262" cy="1210487"/>
          </a:xfrm>
          <a:prstGeom prst="rect">
            <a:avLst/>
          </a:prstGeom>
        </p:spPr>
        <p:txBody>
          <a:bodyPr vert="horz" wrap="square" lIns="0" tIns="507923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95"/>
              </a:spcBef>
            </a:pPr>
            <a:r>
              <a:rPr spc="254" dirty="0"/>
              <a:t>Literature</a:t>
            </a:r>
            <a:r>
              <a:rPr spc="310" dirty="0"/>
              <a:t> </a:t>
            </a:r>
            <a:r>
              <a:rPr spc="305" dirty="0"/>
              <a:t>Survey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623AF09-423E-5E03-8A95-46C9EB34A11A}"/>
              </a:ext>
            </a:extLst>
          </p:cNvPr>
          <p:cNvSpPr/>
          <p:nvPr/>
        </p:nvSpPr>
        <p:spPr>
          <a:xfrm>
            <a:off x="195071" y="6210300"/>
            <a:ext cx="609600" cy="457200"/>
          </a:xfrm>
          <a:custGeom>
            <a:avLst/>
            <a:gdLst/>
            <a:ahLst/>
            <a:cxnLst/>
            <a:rect l="l" t="t" r="r" b="b"/>
            <a:pathLst>
              <a:path w="609600" h="457200">
                <a:moveTo>
                  <a:pt x="304800" y="0"/>
                </a:moveTo>
                <a:lnTo>
                  <a:pt x="250011" y="3683"/>
                </a:lnTo>
                <a:lnTo>
                  <a:pt x="198444" y="14301"/>
                </a:lnTo>
                <a:lnTo>
                  <a:pt x="150960" y="31210"/>
                </a:lnTo>
                <a:lnTo>
                  <a:pt x="108420" y="53764"/>
                </a:lnTo>
                <a:lnTo>
                  <a:pt x="71684" y="81316"/>
                </a:lnTo>
                <a:lnTo>
                  <a:pt x="41613" y="113221"/>
                </a:lnTo>
                <a:lnTo>
                  <a:pt x="19068" y="148834"/>
                </a:lnTo>
                <a:lnTo>
                  <a:pt x="4910" y="187509"/>
                </a:lnTo>
                <a:lnTo>
                  <a:pt x="0" y="228600"/>
                </a:lnTo>
                <a:lnTo>
                  <a:pt x="4910" y="269690"/>
                </a:lnTo>
                <a:lnTo>
                  <a:pt x="19068" y="308365"/>
                </a:lnTo>
                <a:lnTo>
                  <a:pt x="41613" y="343978"/>
                </a:lnTo>
                <a:lnTo>
                  <a:pt x="71684" y="375883"/>
                </a:lnTo>
                <a:lnTo>
                  <a:pt x="108420" y="403435"/>
                </a:lnTo>
                <a:lnTo>
                  <a:pt x="150960" y="425989"/>
                </a:lnTo>
                <a:lnTo>
                  <a:pt x="198444" y="442898"/>
                </a:lnTo>
                <a:lnTo>
                  <a:pt x="250011" y="453516"/>
                </a:lnTo>
                <a:lnTo>
                  <a:pt x="304800" y="457200"/>
                </a:lnTo>
                <a:lnTo>
                  <a:pt x="359588" y="453516"/>
                </a:lnTo>
                <a:lnTo>
                  <a:pt x="411155" y="442898"/>
                </a:lnTo>
                <a:lnTo>
                  <a:pt x="458639" y="425989"/>
                </a:lnTo>
                <a:lnTo>
                  <a:pt x="501179" y="403435"/>
                </a:lnTo>
                <a:lnTo>
                  <a:pt x="537915" y="375883"/>
                </a:lnTo>
                <a:lnTo>
                  <a:pt x="567986" y="343978"/>
                </a:lnTo>
                <a:lnTo>
                  <a:pt x="590531" y="308365"/>
                </a:lnTo>
                <a:lnTo>
                  <a:pt x="604689" y="269690"/>
                </a:lnTo>
                <a:lnTo>
                  <a:pt x="609600" y="228600"/>
                </a:lnTo>
                <a:lnTo>
                  <a:pt x="604689" y="187509"/>
                </a:lnTo>
                <a:lnTo>
                  <a:pt x="590531" y="148834"/>
                </a:lnTo>
                <a:lnTo>
                  <a:pt x="567986" y="113221"/>
                </a:lnTo>
                <a:lnTo>
                  <a:pt x="537915" y="81316"/>
                </a:lnTo>
                <a:lnTo>
                  <a:pt x="501179" y="53764"/>
                </a:lnTo>
                <a:lnTo>
                  <a:pt x="458639" y="31210"/>
                </a:lnTo>
                <a:lnTo>
                  <a:pt x="411155" y="14301"/>
                </a:lnTo>
                <a:lnTo>
                  <a:pt x="359588" y="3683"/>
                </a:lnTo>
                <a:lnTo>
                  <a:pt x="30480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666FA715-13FD-84E7-4707-EFD50A9028FB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F448510B-0979-33AF-B170-6D9D12CA35D8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dirty="0"/>
              <a:t>Project</a:t>
            </a:r>
            <a:r>
              <a:rPr spc="-45" dirty="0"/>
              <a:t> </a:t>
            </a:r>
            <a:r>
              <a:rPr dirty="0"/>
              <a:t>Review</a:t>
            </a:r>
            <a:r>
              <a:rPr spc="-30" dirty="0"/>
              <a:t> </a:t>
            </a:r>
            <a:r>
              <a:rPr dirty="0"/>
              <a:t>-</a:t>
            </a:r>
            <a:r>
              <a:rPr spc="-55" dirty="0"/>
              <a:t> </a:t>
            </a:r>
            <a:r>
              <a:rPr spc="-50" dirty="0"/>
              <a:t>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C56DF0-6FCD-5522-33C8-2757E416F9FB}"/>
              </a:ext>
            </a:extLst>
          </p:cNvPr>
          <p:cNvSpPr txBox="1"/>
          <p:nvPr/>
        </p:nvSpPr>
        <p:spPr>
          <a:xfrm>
            <a:off x="499871" y="1600200"/>
            <a:ext cx="10930129" cy="3268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Developing a Comprehensive Framework for UEBA (2024, Journal of Communication Engineering &amp; Systems –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JoCES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Proposes a structured UEBA framework integrating contextual machine learning for anomaly detection.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Drawback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Limited discussion on SIEM–SOAR orchestration and real-time enforcement workflows.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unified architecture combining UEBA, SIEM, and automated response bridges this gap.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https://journals.stmjournals.com/joces/</a:t>
            </a:r>
          </a:p>
        </p:txBody>
      </p:sp>
    </p:spTree>
    <p:extLst>
      <p:ext uri="{BB962C8B-B14F-4D97-AF65-F5344CB8AC3E}">
        <p14:creationId xmlns:p14="http://schemas.microsoft.com/office/powerpoint/2010/main" val="703554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A78E3-CDFD-B27B-A1DB-80F5947D5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0B4980E6-230B-0CB3-5C65-DAC64409D3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9871" y="95837"/>
            <a:ext cx="10224262" cy="1210487"/>
          </a:xfrm>
          <a:prstGeom prst="rect">
            <a:avLst/>
          </a:prstGeom>
        </p:spPr>
        <p:txBody>
          <a:bodyPr vert="horz" wrap="square" lIns="0" tIns="507923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95"/>
              </a:spcBef>
            </a:pPr>
            <a:r>
              <a:rPr spc="254" dirty="0"/>
              <a:t>Literature</a:t>
            </a:r>
            <a:r>
              <a:rPr spc="310" dirty="0"/>
              <a:t> </a:t>
            </a:r>
            <a:r>
              <a:rPr spc="305" dirty="0"/>
              <a:t>Survey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CCB2390-2417-A6D0-D274-E6D16EB629AF}"/>
              </a:ext>
            </a:extLst>
          </p:cNvPr>
          <p:cNvSpPr/>
          <p:nvPr/>
        </p:nvSpPr>
        <p:spPr>
          <a:xfrm>
            <a:off x="195071" y="6210300"/>
            <a:ext cx="609600" cy="457200"/>
          </a:xfrm>
          <a:custGeom>
            <a:avLst/>
            <a:gdLst/>
            <a:ahLst/>
            <a:cxnLst/>
            <a:rect l="l" t="t" r="r" b="b"/>
            <a:pathLst>
              <a:path w="609600" h="457200">
                <a:moveTo>
                  <a:pt x="304800" y="0"/>
                </a:moveTo>
                <a:lnTo>
                  <a:pt x="250011" y="3683"/>
                </a:lnTo>
                <a:lnTo>
                  <a:pt x="198444" y="14301"/>
                </a:lnTo>
                <a:lnTo>
                  <a:pt x="150960" y="31210"/>
                </a:lnTo>
                <a:lnTo>
                  <a:pt x="108420" y="53764"/>
                </a:lnTo>
                <a:lnTo>
                  <a:pt x="71684" y="81316"/>
                </a:lnTo>
                <a:lnTo>
                  <a:pt x="41613" y="113221"/>
                </a:lnTo>
                <a:lnTo>
                  <a:pt x="19068" y="148834"/>
                </a:lnTo>
                <a:lnTo>
                  <a:pt x="4910" y="187509"/>
                </a:lnTo>
                <a:lnTo>
                  <a:pt x="0" y="228600"/>
                </a:lnTo>
                <a:lnTo>
                  <a:pt x="4910" y="269690"/>
                </a:lnTo>
                <a:lnTo>
                  <a:pt x="19068" y="308365"/>
                </a:lnTo>
                <a:lnTo>
                  <a:pt x="41613" y="343978"/>
                </a:lnTo>
                <a:lnTo>
                  <a:pt x="71684" y="375883"/>
                </a:lnTo>
                <a:lnTo>
                  <a:pt x="108420" y="403435"/>
                </a:lnTo>
                <a:lnTo>
                  <a:pt x="150960" y="425989"/>
                </a:lnTo>
                <a:lnTo>
                  <a:pt x="198444" y="442898"/>
                </a:lnTo>
                <a:lnTo>
                  <a:pt x="250011" y="453516"/>
                </a:lnTo>
                <a:lnTo>
                  <a:pt x="304800" y="457200"/>
                </a:lnTo>
                <a:lnTo>
                  <a:pt x="359588" y="453516"/>
                </a:lnTo>
                <a:lnTo>
                  <a:pt x="411155" y="442898"/>
                </a:lnTo>
                <a:lnTo>
                  <a:pt x="458639" y="425989"/>
                </a:lnTo>
                <a:lnTo>
                  <a:pt x="501179" y="403435"/>
                </a:lnTo>
                <a:lnTo>
                  <a:pt x="537915" y="375883"/>
                </a:lnTo>
                <a:lnTo>
                  <a:pt x="567986" y="343978"/>
                </a:lnTo>
                <a:lnTo>
                  <a:pt x="590531" y="308365"/>
                </a:lnTo>
                <a:lnTo>
                  <a:pt x="604689" y="269690"/>
                </a:lnTo>
                <a:lnTo>
                  <a:pt x="609600" y="228600"/>
                </a:lnTo>
                <a:lnTo>
                  <a:pt x="604689" y="187509"/>
                </a:lnTo>
                <a:lnTo>
                  <a:pt x="590531" y="148834"/>
                </a:lnTo>
                <a:lnTo>
                  <a:pt x="567986" y="113221"/>
                </a:lnTo>
                <a:lnTo>
                  <a:pt x="537915" y="81316"/>
                </a:lnTo>
                <a:lnTo>
                  <a:pt x="501179" y="53764"/>
                </a:lnTo>
                <a:lnTo>
                  <a:pt x="458639" y="31210"/>
                </a:lnTo>
                <a:lnTo>
                  <a:pt x="411155" y="14301"/>
                </a:lnTo>
                <a:lnTo>
                  <a:pt x="359588" y="3683"/>
                </a:lnTo>
                <a:lnTo>
                  <a:pt x="30480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2EFD9CF8-F30F-2449-DEE7-315D3254BD4D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E5B71547-E272-DC06-18B3-860CA7EF4AC6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dirty="0"/>
              <a:t>Project</a:t>
            </a:r>
            <a:r>
              <a:rPr spc="-45" dirty="0"/>
              <a:t> </a:t>
            </a:r>
            <a:r>
              <a:rPr dirty="0"/>
              <a:t>Review</a:t>
            </a:r>
            <a:r>
              <a:rPr spc="-30" dirty="0"/>
              <a:t> </a:t>
            </a:r>
            <a:r>
              <a:rPr dirty="0"/>
              <a:t>-</a:t>
            </a:r>
            <a:r>
              <a:rPr spc="-55" dirty="0"/>
              <a:t> </a:t>
            </a:r>
            <a:r>
              <a:rPr spc="-50" dirty="0"/>
              <a:t>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DE5C2B-80C5-7802-A2D9-3EAE587DB815}"/>
              </a:ext>
            </a:extLst>
          </p:cNvPr>
          <p:cNvSpPr txBox="1"/>
          <p:nvPr/>
        </p:nvSpPr>
        <p:spPr>
          <a:xfrm>
            <a:off x="499871" y="1563841"/>
            <a:ext cx="11387329" cy="2806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UEBA for SIEM Systems: Preprocessing of CERT Dataset (2023, Journal of Smart Computing and Artificial Intelligence)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Studies preprocessing and feature engineering techniques for UEBA integration with SIEM.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Drawback: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data preparation rather than adaptive SOAR enforcement.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anomaly scoring must be coupled with automated remediation for effective Zero Trust.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link: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https://dergipark.org.tr/en/pub/jscai/article/1213782</a:t>
            </a:r>
          </a:p>
        </p:txBody>
      </p:sp>
    </p:spTree>
    <p:extLst>
      <p:ext uri="{BB962C8B-B14F-4D97-AF65-F5344CB8AC3E}">
        <p14:creationId xmlns:p14="http://schemas.microsoft.com/office/powerpoint/2010/main" val="3246970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8111" y="-129012"/>
            <a:ext cx="10224262" cy="1210487"/>
          </a:xfrm>
          <a:prstGeom prst="rect">
            <a:avLst/>
          </a:prstGeom>
        </p:spPr>
        <p:txBody>
          <a:bodyPr vert="horz" wrap="square" lIns="0" tIns="507923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95"/>
              </a:spcBef>
            </a:pPr>
            <a:r>
              <a:rPr spc="180" dirty="0"/>
              <a:t>Work</a:t>
            </a:r>
            <a:r>
              <a:rPr spc="265" dirty="0"/>
              <a:t> </a:t>
            </a:r>
            <a:r>
              <a:rPr spc="330" dirty="0"/>
              <a:t>Flow</a:t>
            </a:r>
            <a:r>
              <a:rPr spc="280" dirty="0"/>
              <a:t> </a:t>
            </a:r>
            <a:r>
              <a:rPr spc="290" dirty="0"/>
              <a:t>Diagram</a:t>
            </a:r>
          </a:p>
        </p:txBody>
      </p:sp>
      <p:sp>
        <p:nvSpPr>
          <p:cNvPr id="4" name="object 4"/>
          <p:cNvSpPr/>
          <p:nvPr/>
        </p:nvSpPr>
        <p:spPr>
          <a:xfrm>
            <a:off x="195071" y="6210300"/>
            <a:ext cx="609600" cy="457200"/>
          </a:xfrm>
          <a:custGeom>
            <a:avLst/>
            <a:gdLst/>
            <a:ahLst/>
            <a:cxnLst/>
            <a:rect l="l" t="t" r="r" b="b"/>
            <a:pathLst>
              <a:path w="609600" h="457200">
                <a:moveTo>
                  <a:pt x="304800" y="0"/>
                </a:moveTo>
                <a:lnTo>
                  <a:pt x="250011" y="3683"/>
                </a:lnTo>
                <a:lnTo>
                  <a:pt x="198444" y="14301"/>
                </a:lnTo>
                <a:lnTo>
                  <a:pt x="150960" y="31210"/>
                </a:lnTo>
                <a:lnTo>
                  <a:pt x="108420" y="53764"/>
                </a:lnTo>
                <a:lnTo>
                  <a:pt x="71684" y="81316"/>
                </a:lnTo>
                <a:lnTo>
                  <a:pt x="41613" y="113221"/>
                </a:lnTo>
                <a:lnTo>
                  <a:pt x="19068" y="148834"/>
                </a:lnTo>
                <a:lnTo>
                  <a:pt x="4910" y="187509"/>
                </a:lnTo>
                <a:lnTo>
                  <a:pt x="0" y="228600"/>
                </a:lnTo>
                <a:lnTo>
                  <a:pt x="4910" y="269690"/>
                </a:lnTo>
                <a:lnTo>
                  <a:pt x="19068" y="308365"/>
                </a:lnTo>
                <a:lnTo>
                  <a:pt x="41613" y="343978"/>
                </a:lnTo>
                <a:lnTo>
                  <a:pt x="71684" y="375883"/>
                </a:lnTo>
                <a:lnTo>
                  <a:pt x="108420" y="403435"/>
                </a:lnTo>
                <a:lnTo>
                  <a:pt x="150960" y="425989"/>
                </a:lnTo>
                <a:lnTo>
                  <a:pt x="198444" y="442898"/>
                </a:lnTo>
                <a:lnTo>
                  <a:pt x="250011" y="453516"/>
                </a:lnTo>
                <a:lnTo>
                  <a:pt x="304800" y="457200"/>
                </a:lnTo>
                <a:lnTo>
                  <a:pt x="359588" y="453516"/>
                </a:lnTo>
                <a:lnTo>
                  <a:pt x="411155" y="442898"/>
                </a:lnTo>
                <a:lnTo>
                  <a:pt x="458639" y="425989"/>
                </a:lnTo>
                <a:lnTo>
                  <a:pt x="501179" y="403435"/>
                </a:lnTo>
                <a:lnTo>
                  <a:pt x="537915" y="375883"/>
                </a:lnTo>
                <a:lnTo>
                  <a:pt x="567986" y="343978"/>
                </a:lnTo>
                <a:lnTo>
                  <a:pt x="590531" y="308365"/>
                </a:lnTo>
                <a:lnTo>
                  <a:pt x="604689" y="269690"/>
                </a:lnTo>
                <a:lnTo>
                  <a:pt x="609600" y="228600"/>
                </a:lnTo>
                <a:lnTo>
                  <a:pt x="604689" y="187509"/>
                </a:lnTo>
                <a:lnTo>
                  <a:pt x="590531" y="148834"/>
                </a:lnTo>
                <a:lnTo>
                  <a:pt x="567986" y="113221"/>
                </a:lnTo>
                <a:lnTo>
                  <a:pt x="537915" y="81316"/>
                </a:lnTo>
                <a:lnTo>
                  <a:pt x="501179" y="53764"/>
                </a:lnTo>
                <a:lnTo>
                  <a:pt x="458639" y="31210"/>
                </a:lnTo>
                <a:lnTo>
                  <a:pt x="411155" y="14301"/>
                </a:lnTo>
                <a:lnTo>
                  <a:pt x="359588" y="3683"/>
                </a:lnTo>
                <a:lnTo>
                  <a:pt x="30480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dirty="0"/>
              <a:t>Project</a:t>
            </a:r>
            <a:r>
              <a:rPr spc="-45" dirty="0"/>
              <a:t> </a:t>
            </a:r>
            <a:r>
              <a:rPr dirty="0"/>
              <a:t>Review</a:t>
            </a:r>
            <a:r>
              <a:rPr spc="-30" dirty="0"/>
              <a:t> </a:t>
            </a:r>
            <a:r>
              <a:rPr dirty="0"/>
              <a:t>-</a:t>
            </a:r>
            <a:r>
              <a:rPr spc="-55" dirty="0"/>
              <a:t> </a:t>
            </a:r>
            <a:r>
              <a:rPr spc="-50" dirty="0"/>
              <a:t>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6B6C2C-FA2F-54DA-8C3D-A4BD2F1A3E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470"/>
          <a:stretch>
            <a:fillRect/>
          </a:stretch>
        </p:blipFill>
        <p:spPr>
          <a:xfrm>
            <a:off x="1528981" y="1081475"/>
            <a:ext cx="9134038" cy="539280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98E26-EB91-BF77-46A7-994CA2838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3A2F3CF6-67A2-0B9C-019D-B54DDFF376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8111" y="-111039"/>
            <a:ext cx="10224262" cy="1128436"/>
          </a:xfrm>
          <a:prstGeom prst="rect">
            <a:avLst/>
          </a:prstGeom>
        </p:spPr>
        <p:txBody>
          <a:bodyPr vert="horz" wrap="square" lIns="0" tIns="507923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95"/>
              </a:spcBef>
            </a:pPr>
            <a:r>
              <a:rPr lang="en-IN" spc="180" dirty="0"/>
              <a:t>Architecture </a:t>
            </a:r>
            <a:r>
              <a:rPr spc="290" dirty="0"/>
              <a:t>Diagram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D876DDB-3B89-0B94-7E84-2DB9F36C4DB6}"/>
              </a:ext>
            </a:extLst>
          </p:cNvPr>
          <p:cNvSpPr/>
          <p:nvPr/>
        </p:nvSpPr>
        <p:spPr>
          <a:xfrm>
            <a:off x="195071" y="6210300"/>
            <a:ext cx="609600" cy="457200"/>
          </a:xfrm>
          <a:custGeom>
            <a:avLst/>
            <a:gdLst/>
            <a:ahLst/>
            <a:cxnLst/>
            <a:rect l="l" t="t" r="r" b="b"/>
            <a:pathLst>
              <a:path w="609600" h="457200">
                <a:moveTo>
                  <a:pt x="304800" y="0"/>
                </a:moveTo>
                <a:lnTo>
                  <a:pt x="250011" y="3683"/>
                </a:lnTo>
                <a:lnTo>
                  <a:pt x="198444" y="14301"/>
                </a:lnTo>
                <a:lnTo>
                  <a:pt x="150960" y="31210"/>
                </a:lnTo>
                <a:lnTo>
                  <a:pt x="108420" y="53764"/>
                </a:lnTo>
                <a:lnTo>
                  <a:pt x="71684" y="81316"/>
                </a:lnTo>
                <a:lnTo>
                  <a:pt x="41613" y="113221"/>
                </a:lnTo>
                <a:lnTo>
                  <a:pt x="19068" y="148834"/>
                </a:lnTo>
                <a:lnTo>
                  <a:pt x="4910" y="187509"/>
                </a:lnTo>
                <a:lnTo>
                  <a:pt x="0" y="228600"/>
                </a:lnTo>
                <a:lnTo>
                  <a:pt x="4910" y="269690"/>
                </a:lnTo>
                <a:lnTo>
                  <a:pt x="19068" y="308365"/>
                </a:lnTo>
                <a:lnTo>
                  <a:pt x="41613" y="343978"/>
                </a:lnTo>
                <a:lnTo>
                  <a:pt x="71684" y="375883"/>
                </a:lnTo>
                <a:lnTo>
                  <a:pt x="108420" y="403435"/>
                </a:lnTo>
                <a:lnTo>
                  <a:pt x="150960" y="425989"/>
                </a:lnTo>
                <a:lnTo>
                  <a:pt x="198444" y="442898"/>
                </a:lnTo>
                <a:lnTo>
                  <a:pt x="250011" y="453516"/>
                </a:lnTo>
                <a:lnTo>
                  <a:pt x="304800" y="457200"/>
                </a:lnTo>
                <a:lnTo>
                  <a:pt x="359588" y="453516"/>
                </a:lnTo>
                <a:lnTo>
                  <a:pt x="411155" y="442898"/>
                </a:lnTo>
                <a:lnTo>
                  <a:pt x="458639" y="425989"/>
                </a:lnTo>
                <a:lnTo>
                  <a:pt x="501179" y="403435"/>
                </a:lnTo>
                <a:lnTo>
                  <a:pt x="537915" y="375883"/>
                </a:lnTo>
                <a:lnTo>
                  <a:pt x="567986" y="343978"/>
                </a:lnTo>
                <a:lnTo>
                  <a:pt x="590531" y="308365"/>
                </a:lnTo>
                <a:lnTo>
                  <a:pt x="604689" y="269690"/>
                </a:lnTo>
                <a:lnTo>
                  <a:pt x="609600" y="228600"/>
                </a:lnTo>
                <a:lnTo>
                  <a:pt x="604689" y="187509"/>
                </a:lnTo>
                <a:lnTo>
                  <a:pt x="590531" y="148834"/>
                </a:lnTo>
                <a:lnTo>
                  <a:pt x="567986" y="113221"/>
                </a:lnTo>
                <a:lnTo>
                  <a:pt x="537915" y="81316"/>
                </a:lnTo>
                <a:lnTo>
                  <a:pt x="501179" y="53764"/>
                </a:lnTo>
                <a:lnTo>
                  <a:pt x="458639" y="31210"/>
                </a:lnTo>
                <a:lnTo>
                  <a:pt x="411155" y="14301"/>
                </a:lnTo>
                <a:lnTo>
                  <a:pt x="359588" y="3683"/>
                </a:lnTo>
                <a:lnTo>
                  <a:pt x="30480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3D5231D0-E568-644D-D6D7-371F02F2826C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256F0811-1B64-23FD-B6B6-BB864BFB8B1A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dirty="0"/>
              <a:t>Project</a:t>
            </a:r>
            <a:r>
              <a:rPr spc="-45" dirty="0"/>
              <a:t> </a:t>
            </a:r>
            <a:r>
              <a:rPr dirty="0"/>
              <a:t>Review</a:t>
            </a:r>
            <a:r>
              <a:rPr spc="-30" dirty="0"/>
              <a:t> </a:t>
            </a:r>
            <a:r>
              <a:rPr dirty="0"/>
              <a:t>-</a:t>
            </a:r>
            <a:r>
              <a:rPr spc="-55" dirty="0"/>
              <a:t> </a:t>
            </a:r>
            <a:r>
              <a:rPr spc="-50" dirty="0"/>
              <a:t>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A7079B-26B7-8F81-5DE5-ECF244B217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69" r="3562" b="11691"/>
          <a:stretch>
            <a:fillRect/>
          </a:stretch>
        </p:blipFill>
        <p:spPr>
          <a:xfrm>
            <a:off x="350961" y="1040262"/>
            <a:ext cx="11490077" cy="5147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1618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304800" y="-149233"/>
            <a:ext cx="10224262" cy="1208843"/>
          </a:xfrm>
          <a:prstGeom prst="rect">
            <a:avLst/>
          </a:prstGeom>
        </p:spPr>
        <p:txBody>
          <a:bodyPr vert="horz" wrap="square" lIns="0" tIns="587552" rIns="0" bIns="0" rtlCol="0">
            <a:spAutoFit/>
          </a:bodyPr>
          <a:lstStyle/>
          <a:p>
            <a:pPr marL="1036955">
              <a:lnSpc>
                <a:spcPct val="100000"/>
              </a:lnSpc>
              <a:spcBef>
                <a:spcPts val="95"/>
              </a:spcBef>
            </a:pPr>
            <a:r>
              <a:rPr lang="en-IN" spc="290" dirty="0"/>
              <a:t>Modules</a:t>
            </a:r>
            <a:endParaRPr b="0" spc="-1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95071" y="6210300"/>
            <a:ext cx="609600" cy="457200"/>
          </a:xfrm>
          <a:custGeom>
            <a:avLst/>
            <a:gdLst/>
            <a:ahLst/>
            <a:cxnLst/>
            <a:rect l="l" t="t" r="r" b="b"/>
            <a:pathLst>
              <a:path w="609600" h="457200">
                <a:moveTo>
                  <a:pt x="304800" y="0"/>
                </a:moveTo>
                <a:lnTo>
                  <a:pt x="250011" y="3683"/>
                </a:lnTo>
                <a:lnTo>
                  <a:pt x="198444" y="14301"/>
                </a:lnTo>
                <a:lnTo>
                  <a:pt x="150960" y="31210"/>
                </a:lnTo>
                <a:lnTo>
                  <a:pt x="108420" y="53764"/>
                </a:lnTo>
                <a:lnTo>
                  <a:pt x="71684" y="81316"/>
                </a:lnTo>
                <a:lnTo>
                  <a:pt x="41613" y="113221"/>
                </a:lnTo>
                <a:lnTo>
                  <a:pt x="19068" y="148834"/>
                </a:lnTo>
                <a:lnTo>
                  <a:pt x="4910" y="187509"/>
                </a:lnTo>
                <a:lnTo>
                  <a:pt x="0" y="228600"/>
                </a:lnTo>
                <a:lnTo>
                  <a:pt x="4910" y="269690"/>
                </a:lnTo>
                <a:lnTo>
                  <a:pt x="19068" y="308365"/>
                </a:lnTo>
                <a:lnTo>
                  <a:pt x="41613" y="343978"/>
                </a:lnTo>
                <a:lnTo>
                  <a:pt x="71684" y="375883"/>
                </a:lnTo>
                <a:lnTo>
                  <a:pt x="108420" y="403435"/>
                </a:lnTo>
                <a:lnTo>
                  <a:pt x="150960" y="425989"/>
                </a:lnTo>
                <a:lnTo>
                  <a:pt x="198444" y="442898"/>
                </a:lnTo>
                <a:lnTo>
                  <a:pt x="250011" y="453516"/>
                </a:lnTo>
                <a:lnTo>
                  <a:pt x="304800" y="457200"/>
                </a:lnTo>
                <a:lnTo>
                  <a:pt x="359588" y="453516"/>
                </a:lnTo>
                <a:lnTo>
                  <a:pt x="411155" y="442898"/>
                </a:lnTo>
                <a:lnTo>
                  <a:pt x="458639" y="425989"/>
                </a:lnTo>
                <a:lnTo>
                  <a:pt x="501179" y="403435"/>
                </a:lnTo>
                <a:lnTo>
                  <a:pt x="537915" y="375883"/>
                </a:lnTo>
                <a:lnTo>
                  <a:pt x="567986" y="343978"/>
                </a:lnTo>
                <a:lnTo>
                  <a:pt x="590531" y="308365"/>
                </a:lnTo>
                <a:lnTo>
                  <a:pt x="604689" y="269690"/>
                </a:lnTo>
                <a:lnTo>
                  <a:pt x="609600" y="228600"/>
                </a:lnTo>
                <a:lnTo>
                  <a:pt x="604689" y="187509"/>
                </a:lnTo>
                <a:lnTo>
                  <a:pt x="590531" y="148834"/>
                </a:lnTo>
                <a:lnTo>
                  <a:pt x="567986" y="113221"/>
                </a:lnTo>
                <a:lnTo>
                  <a:pt x="537915" y="81316"/>
                </a:lnTo>
                <a:lnTo>
                  <a:pt x="501179" y="53764"/>
                </a:lnTo>
                <a:lnTo>
                  <a:pt x="458639" y="31210"/>
                </a:lnTo>
                <a:lnTo>
                  <a:pt x="411155" y="14301"/>
                </a:lnTo>
                <a:lnTo>
                  <a:pt x="359588" y="3683"/>
                </a:lnTo>
                <a:lnTo>
                  <a:pt x="30480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dirty="0"/>
              <a:t>Project</a:t>
            </a:r>
            <a:r>
              <a:rPr spc="-45" dirty="0"/>
              <a:t> </a:t>
            </a:r>
            <a:r>
              <a:rPr dirty="0"/>
              <a:t>Review</a:t>
            </a:r>
            <a:r>
              <a:rPr spc="-30" dirty="0"/>
              <a:t> </a:t>
            </a:r>
            <a:r>
              <a:rPr dirty="0"/>
              <a:t>-</a:t>
            </a:r>
            <a:r>
              <a:rPr spc="-55" dirty="0"/>
              <a:t> </a:t>
            </a:r>
            <a:r>
              <a:rPr spc="-50" dirty="0"/>
              <a:t>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35E7F8-0F1B-16DB-591B-140B8664976D}"/>
              </a:ext>
            </a:extLst>
          </p:cNvPr>
          <p:cNvSpPr txBox="1"/>
          <p:nvPr/>
        </p:nvSpPr>
        <p:spPr>
          <a:xfrm>
            <a:off x="685800" y="1059610"/>
            <a:ext cx="11192258" cy="5115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Module 1: Log Aggregation &amp; Feature Preparation</a:t>
            </a:r>
          </a:p>
          <a:p>
            <a:pPr marL="342900" marR="0" lvl="0" indent="-34290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and normalize logs from SIEM sources (firewalls, IDS, EDR, IdP).</a:t>
            </a:r>
          </a:p>
          <a:p>
            <a:pPr marL="342900" marR="0" lvl="0" indent="-34290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behavioral features such as session duration, failed logins, and privilege changes for UEBA processing.</a:t>
            </a: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Module 2: Anomaly Detection &amp; Zero Trust Risk Scoring</a:t>
            </a:r>
          </a:p>
          <a:p>
            <a:pPr marL="342900" marR="0" lvl="0" indent="-3429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Apply Isolation Forest for behavioural anomaly detection.</a:t>
            </a:r>
          </a:p>
          <a:p>
            <a:pPr marL="342900" marR="0" lvl="0" indent="-3429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Convert anomaly scores into discrete risk levels to trigger identity validation, MFA enforcement, and device compliance checks.</a:t>
            </a: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Module 3: Automated Response &amp; Enforcement (SOAR)</a:t>
            </a:r>
          </a:p>
          <a:p>
            <a:pPr marL="342900" marR="0" lvl="0" indent="-3429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Execute adaptive Python-based playbooks for IP blocking, endpoint isolation, and privilege revocation.</a:t>
            </a:r>
          </a:p>
          <a:p>
            <a:pPr marL="342900" marR="0" lvl="0" indent="-3429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Log actions in SIEM and display structured risk insights via the dashboard.</a:t>
            </a:r>
            <a:endParaRPr kumimoji="0" lang="en-IN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381000" y="120330"/>
            <a:ext cx="10224262" cy="1208843"/>
          </a:xfrm>
          <a:prstGeom prst="rect">
            <a:avLst/>
          </a:prstGeom>
        </p:spPr>
        <p:txBody>
          <a:bodyPr vert="horz" wrap="square" lIns="0" tIns="587552" rIns="0" bIns="0" rtlCol="0">
            <a:spAutoFit/>
          </a:bodyPr>
          <a:lstStyle/>
          <a:p>
            <a:pPr marL="1036955">
              <a:lnSpc>
                <a:spcPct val="100000"/>
              </a:lnSpc>
              <a:spcBef>
                <a:spcPts val="95"/>
              </a:spcBef>
            </a:pPr>
            <a:r>
              <a:rPr lang="en-IN" spc="290" dirty="0"/>
              <a:t> Dataset Description</a:t>
            </a:r>
            <a:endParaRPr b="0" spc="-10" dirty="0">
              <a:solidFill>
                <a:srgbClr val="696363"/>
              </a:solidFill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95071" y="6210300"/>
            <a:ext cx="609600" cy="457200"/>
          </a:xfrm>
          <a:custGeom>
            <a:avLst/>
            <a:gdLst/>
            <a:ahLst/>
            <a:cxnLst/>
            <a:rect l="l" t="t" r="r" b="b"/>
            <a:pathLst>
              <a:path w="609600" h="457200">
                <a:moveTo>
                  <a:pt x="304800" y="0"/>
                </a:moveTo>
                <a:lnTo>
                  <a:pt x="250011" y="3683"/>
                </a:lnTo>
                <a:lnTo>
                  <a:pt x="198444" y="14301"/>
                </a:lnTo>
                <a:lnTo>
                  <a:pt x="150960" y="31210"/>
                </a:lnTo>
                <a:lnTo>
                  <a:pt x="108420" y="53764"/>
                </a:lnTo>
                <a:lnTo>
                  <a:pt x="71684" y="81316"/>
                </a:lnTo>
                <a:lnTo>
                  <a:pt x="41613" y="113221"/>
                </a:lnTo>
                <a:lnTo>
                  <a:pt x="19068" y="148834"/>
                </a:lnTo>
                <a:lnTo>
                  <a:pt x="4910" y="187509"/>
                </a:lnTo>
                <a:lnTo>
                  <a:pt x="0" y="228600"/>
                </a:lnTo>
                <a:lnTo>
                  <a:pt x="4910" y="269690"/>
                </a:lnTo>
                <a:lnTo>
                  <a:pt x="19068" y="308365"/>
                </a:lnTo>
                <a:lnTo>
                  <a:pt x="41613" y="343978"/>
                </a:lnTo>
                <a:lnTo>
                  <a:pt x="71684" y="375883"/>
                </a:lnTo>
                <a:lnTo>
                  <a:pt x="108420" y="403435"/>
                </a:lnTo>
                <a:lnTo>
                  <a:pt x="150960" y="425989"/>
                </a:lnTo>
                <a:lnTo>
                  <a:pt x="198444" y="442898"/>
                </a:lnTo>
                <a:lnTo>
                  <a:pt x="250011" y="453516"/>
                </a:lnTo>
                <a:lnTo>
                  <a:pt x="304800" y="457200"/>
                </a:lnTo>
                <a:lnTo>
                  <a:pt x="359588" y="453516"/>
                </a:lnTo>
                <a:lnTo>
                  <a:pt x="411155" y="442898"/>
                </a:lnTo>
                <a:lnTo>
                  <a:pt x="458639" y="425989"/>
                </a:lnTo>
                <a:lnTo>
                  <a:pt x="501179" y="403435"/>
                </a:lnTo>
                <a:lnTo>
                  <a:pt x="537915" y="375883"/>
                </a:lnTo>
                <a:lnTo>
                  <a:pt x="567986" y="343978"/>
                </a:lnTo>
                <a:lnTo>
                  <a:pt x="590531" y="308365"/>
                </a:lnTo>
                <a:lnTo>
                  <a:pt x="604689" y="269690"/>
                </a:lnTo>
                <a:lnTo>
                  <a:pt x="609600" y="228600"/>
                </a:lnTo>
                <a:lnTo>
                  <a:pt x="604689" y="187509"/>
                </a:lnTo>
                <a:lnTo>
                  <a:pt x="590531" y="148834"/>
                </a:lnTo>
                <a:lnTo>
                  <a:pt x="567986" y="113221"/>
                </a:lnTo>
                <a:lnTo>
                  <a:pt x="537915" y="81316"/>
                </a:lnTo>
                <a:lnTo>
                  <a:pt x="501179" y="53764"/>
                </a:lnTo>
                <a:lnTo>
                  <a:pt x="458639" y="31210"/>
                </a:lnTo>
                <a:lnTo>
                  <a:pt x="411155" y="14301"/>
                </a:lnTo>
                <a:lnTo>
                  <a:pt x="359588" y="3683"/>
                </a:lnTo>
                <a:lnTo>
                  <a:pt x="30480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dirty="0"/>
              <a:t>Project</a:t>
            </a:r>
            <a:r>
              <a:rPr spc="-45" dirty="0"/>
              <a:t> </a:t>
            </a:r>
            <a:r>
              <a:rPr dirty="0"/>
              <a:t>Review</a:t>
            </a:r>
            <a:r>
              <a:rPr spc="-30" dirty="0"/>
              <a:t> </a:t>
            </a:r>
            <a:r>
              <a:rPr dirty="0"/>
              <a:t>-</a:t>
            </a:r>
            <a:r>
              <a:rPr spc="-55" dirty="0"/>
              <a:t> </a:t>
            </a:r>
            <a:r>
              <a:rPr spc="-50" dirty="0"/>
              <a:t>I</a:t>
            </a: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E7D799A6-B96E-B9CE-0EF7-266CECE680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621" y="1853884"/>
            <a:ext cx="3735449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Synthetic Behavioural Dataset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Custom-generated enterprise session logs for UEBA training and validation.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include session duration, failed logins, privilege change attempts, MFA bypass, device trust score, and external connections.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80% training / 20% validation split with 15% injected anomaly scenarios.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E26A44A4-A007-33AF-174A-EEF7DF8EAA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3599" y="1752600"/>
            <a:ext cx="3659249" cy="420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Benchmark Dataset: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 Insider Threat Dataset (v6.2) – Insider misuse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LANL Authentication Dataset – User login and authentication analysis.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UNSW-NB15 Dataset – Network intrusion and attack traffic patterns.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CICIDS2017 Dataset – DDoS and multi-vector cyberattack scenarios.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5F0C549F-EEE3-A115-92CC-8756A97E62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2848" y="1768929"/>
            <a:ext cx="3616001" cy="2723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 SIEM Log Dataset: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Anonymized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QRadar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logs simulating real-world SOC operations.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sources: firewalls, IDS, EDR, VPN, and Identity Providers.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validate scalability up to 1M+ events per hour.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381000" y="0"/>
            <a:ext cx="7010400" cy="1208843"/>
          </a:xfrm>
          <a:prstGeom prst="rect">
            <a:avLst/>
          </a:prstGeom>
        </p:spPr>
        <p:txBody>
          <a:bodyPr vert="horz" wrap="square" lIns="0" tIns="587552" rIns="0" bIns="0" rtlCol="0">
            <a:spAutoFit/>
          </a:bodyPr>
          <a:lstStyle/>
          <a:p>
            <a:pPr marL="1036955">
              <a:lnSpc>
                <a:spcPct val="100000"/>
              </a:lnSpc>
              <a:spcBef>
                <a:spcPts val="95"/>
              </a:spcBef>
            </a:pPr>
            <a:r>
              <a:rPr lang="en-IN" spc="2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b="0" spc="-20" dirty="0">
              <a:solidFill>
                <a:srgbClr val="69636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95071" y="6210300"/>
            <a:ext cx="609600" cy="457200"/>
          </a:xfrm>
          <a:custGeom>
            <a:avLst/>
            <a:gdLst/>
            <a:ahLst/>
            <a:cxnLst/>
            <a:rect l="l" t="t" r="r" b="b"/>
            <a:pathLst>
              <a:path w="609600" h="457200">
                <a:moveTo>
                  <a:pt x="304800" y="0"/>
                </a:moveTo>
                <a:lnTo>
                  <a:pt x="250011" y="3683"/>
                </a:lnTo>
                <a:lnTo>
                  <a:pt x="198444" y="14301"/>
                </a:lnTo>
                <a:lnTo>
                  <a:pt x="150960" y="31210"/>
                </a:lnTo>
                <a:lnTo>
                  <a:pt x="108420" y="53764"/>
                </a:lnTo>
                <a:lnTo>
                  <a:pt x="71684" y="81316"/>
                </a:lnTo>
                <a:lnTo>
                  <a:pt x="41613" y="113221"/>
                </a:lnTo>
                <a:lnTo>
                  <a:pt x="19068" y="148834"/>
                </a:lnTo>
                <a:lnTo>
                  <a:pt x="4910" y="187509"/>
                </a:lnTo>
                <a:lnTo>
                  <a:pt x="0" y="228600"/>
                </a:lnTo>
                <a:lnTo>
                  <a:pt x="4910" y="269690"/>
                </a:lnTo>
                <a:lnTo>
                  <a:pt x="19068" y="308365"/>
                </a:lnTo>
                <a:lnTo>
                  <a:pt x="41613" y="343978"/>
                </a:lnTo>
                <a:lnTo>
                  <a:pt x="71684" y="375883"/>
                </a:lnTo>
                <a:lnTo>
                  <a:pt x="108420" y="403435"/>
                </a:lnTo>
                <a:lnTo>
                  <a:pt x="150960" y="425989"/>
                </a:lnTo>
                <a:lnTo>
                  <a:pt x="198444" y="442898"/>
                </a:lnTo>
                <a:lnTo>
                  <a:pt x="250011" y="453516"/>
                </a:lnTo>
                <a:lnTo>
                  <a:pt x="304800" y="457200"/>
                </a:lnTo>
                <a:lnTo>
                  <a:pt x="359588" y="453516"/>
                </a:lnTo>
                <a:lnTo>
                  <a:pt x="411155" y="442898"/>
                </a:lnTo>
                <a:lnTo>
                  <a:pt x="458639" y="425989"/>
                </a:lnTo>
                <a:lnTo>
                  <a:pt x="501179" y="403435"/>
                </a:lnTo>
                <a:lnTo>
                  <a:pt x="537915" y="375883"/>
                </a:lnTo>
                <a:lnTo>
                  <a:pt x="567986" y="343978"/>
                </a:lnTo>
                <a:lnTo>
                  <a:pt x="590531" y="308365"/>
                </a:lnTo>
                <a:lnTo>
                  <a:pt x="604689" y="269690"/>
                </a:lnTo>
                <a:lnTo>
                  <a:pt x="609600" y="228600"/>
                </a:lnTo>
                <a:lnTo>
                  <a:pt x="604689" y="187509"/>
                </a:lnTo>
                <a:lnTo>
                  <a:pt x="590531" y="148834"/>
                </a:lnTo>
                <a:lnTo>
                  <a:pt x="567986" y="113221"/>
                </a:lnTo>
                <a:lnTo>
                  <a:pt x="537915" y="81316"/>
                </a:lnTo>
                <a:lnTo>
                  <a:pt x="501179" y="53764"/>
                </a:lnTo>
                <a:lnTo>
                  <a:pt x="458639" y="31210"/>
                </a:lnTo>
                <a:lnTo>
                  <a:pt x="411155" y="14301"/>
                </a:lnTo>
                <a:lnTo>
                  <a:pt x="359588" y="3683"/>
                </a:lnTo>
                <a:lnTo>
                  <a:pt x="30480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dirty="0"/>
              <a:t>Project</a:t>
            </a:r>
            <a:r>
              <a:rPr spc="-45" dirty="0"/>
              <a:t> </a:t>
            </a:r>
            <a:r>
              <a:rPr dirty="0"/>
              <a:t>Review</a:t>
            </a:r>
            <a:r>
              <a:rPr spc="-30" dirty="0"/>
              <a:t> </a:t>
            </a:r>
            <a:r>
              <a:rPr dirty="0"/>
              <a:t>-</a:t>
            </a:r>
            <a:r>
              <a:rPr spc="-55" dirty="0"/>
              <a:t> </a:t>
            </a:r>
            <a:r>
              <a:rPr spc="-50" dirty="0"/>
              <a:t>I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484C8F4-1035-94CD-0AC5-52A1CB8376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352" y="1373943"/>
            <a:ext cx="10777729" cy="4191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unified Zero Trust framework was developed, integrating SIEM, Isolation Forest–based UEBA, and adaptive SOAR playbooks to enable context-aware, automated threat mitigation.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Behavioural anomaly scores were transformed into actionable risk levels, triggering real-time identity validation, MFA enforcement, micro-segmentation, and endpoint isolation across user, device, and network layers.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achieved sub-10-second MTTR for network-based attacks while reducing false positives compared to traditional static SIEM–SOAR pipelines.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 include distributed scalability, adaptive threshold tuning, self-learning playbooks, and expanded hybrid cloud Zero Trust enforcement.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A8156-8519-B10A-4CA4-227342D38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004473D7-077F-F384-1572-5E86685BCF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8111" y="57813"/>
            <a:ext cx="10224262" cy="1210487"/>
          </a:xfrm>
          <a:prstGeom prst="rect">
            <a:avLst/>
          </a:prstGeom>
        </p:spPr>
        <p:txBody>
          <a:bodyPr vert="horz" wrap="square" lIns="0" tIns="507923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95"/>
              </a:spcBef>
            </a:pPr>
            <a:r>
              <a:rPr spc="235" dirty="0"/>
              <a:t>References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AB9C9AC-03AB-9868-BDD2-876ED125C85D}"/>
              </a:ext>
            </a:extLst>
          </p:cNvPr>
          <p:cNvSpPr/>
          <p:nvPr/>
        </p:nvSpPr>
        <p:spPr>
          <a:xfrm>
            <a:off x="195071" y="6210300"/>
            <a:ext cx="609600" cy="457200"/>
          </a:xfrm>
          <a:custGeom>
            <a:avLst/>
            <a:gdLst/>
            <a:ahLst/>
            <a:cxnLst/>
            <a:rect l="l" t="t" r="r" b="b"/>
            <a:pathLst>
              <a:path w="609600" h="457200">
                <a:moveTo>
                  <a:pt x="304800" y="0"/>
                </a:moveTo>
                <a:lnTo>
                  <a:pt x="250011" y="3683"/>
                </a:lnTo>
                <a:lnTo>
                  <a:pt x="198444" y="14301"/>
                </a:lnTo>
                <a:lnTo>
                  <a:pt x="150960" y="31210"/>
                </a:lnTo>
                <a:lnTo>
                  <a:pt x="108420" y="53764"/>
                </a:lnTo>
                <a:lnTo>
                  <a:pt x="71684" y="81316"/>
                </a:lnTo>
                <a:lnTo>
                  <a:pt x="41613" y="113221"/>
                </a:lnTo>
                <a:lnTo>
                  <a:pt x="19068" y="148834"/>
                </a:lnTo>
                <a:lnTo>
                  <a:pt x="4910" y="187509"/>
                </a:lnTo>
                <a:lnTo>
                  <a:pt x="0" y="228600"/>
                </a:lnTo>
                <a:lnTo>
                  <a:pt x="4910" y="269690"/>
                </a:lnTo>
                <a:lnTo>
                  <a:pt x="19068" y="308365"/>
                </a:lnTo>
                <a:lnTo>
                  <a:pt x="41613" y="343978"/>
                </a:lnTo>
                <a:lnTo>
                  <a:pt x="71684" y="375883"/>
                </a:lnTo>
                <a:lnTo>
                  <a:pt x="108420" y="403435"/>
                </a:lnTo>
                <a:lnTo>
                  <a:pt x="150960" y="425989"/>
                </a:lnTo>
                <a:lnTo>
                  <a:pt x="198444" y="442898"/>
                </a:lnTo>
                <a:lnTo>
                  <a:pt x="250011" y="453516"/>
                </a:lnTo>
                <a:lnTo>
                  <a:pt x="304800" y="457200"/>
                </a:lnTo>
                <a:lnTo>
                  <a:pt x="359588" y="453516"/>
                </a:lnTo>
                <a:lnTo>
                  <a:pt x="411155" y="442898"/>
                </a:lnTo>
                <a:lnTo>
                  <a:pt x="458639" y="425989"/>
                </a:lnTo>
                <a:lnTo>
                  <a:pt x="501179" y="403435"/>
                </a:lnTo>
                <a:lnTo>
                  <a:pt x="537915" y="375883"/>
                </a:lnTo>
                <a:lnTo>
                  <a:pt x="567986" y="343978"/>
                </a:lnTo>
                <a:lnTo>
                  <a:pt x="590531" y="308365"/>
                </a:lnTo>
                <a:lnTo>
                  <a:pt x="604689" y="269690"/>
                </a:lnTo>
                <a:lnTo>
                  <a:pt x="609600" y="228600"/>
                </a:lnTo>
                <a:lnTo>
                  <a:pt x="604689" y="187509"/>
                </a:lnTo>
                <a:lnTo>
                  <a:pt x="590531" y="148834"/>
                </a:lnTo>
                <a:lnTo>
                  <a:pt x="567986" y="113221"/>
                </a:lnTo>
                <a:lnTo>
                  <a:pt x="537915" y="81316"/>
                </a:lnTo>
                <a:lnTo>
                  <a:pt x="501179" y="53764"/>
                </a:lnTo>
                <a:lnTo>
                  <a:pt x="458639" y="31210"/>
                </a:lnTo>
                <a:lnTo>
                  <a:pt x="411155" y="14301"/>
                </a:lnTo>
                <a:lnTo>
                  <a:pt x="359588" y="3683"/>
                </a:lnTo>
                <a:lnTo>
                  <a:pt x="30480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32BFA11C-A15E-3944-980B-15C5A3689CB0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C313494C-615A-C027-C7E6-461A2E2F8FA4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dirty="0"/>
              <a:t>Project</a:t>
            </a:r>
            <a:r>
              <a:rPr spc="-45" dirty="0"/>
              <a:t> </a:t>
            </a:r>
            <a:r>
              <a:rPr dirty="0"/>
              <a:t>Review</a:t>
            </a:r>
            <a:r>
              <a:rPr spc="-30" dirty="0"/>
              <a:t> </a:t>
            </a:r>
            <a:r>
              <a:rPr dirty="0"/>
              <a:t>-</a:t>
            </a:r>
            <a:r>
              <a:rPr spc="-55" dirty="0"/>
              <a:t> </a:t>
            </a:r>
            <a:r>
              <a:rPr spc="-50" dirty="0"/>
              <a:t>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123BD8-78B7-41F3-437C-ACFA040EF1C4}"/>
              </a:ext>
            </a:extLst>
          </p:cNvPr>
          <p:cNvSpPr txBox="1"/>
          <p:nvPr/>
        </p:nvSpPr>
        <p:spPr>
          <a:xfrm>
            <a:off x="388111" y="1442931"/>
            <a:ext cx="11194289" cy="4653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Rose, S., Borchert, O., Mitchell, S., &amp; Connelly, S. (2020). Zero Trust Architecture.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NIST Special Publication 800-207.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doi:10.6028/NIST.SP.800-207.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Syed, N. F., Shah, S. W.,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Shaghaghi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Anwar, A., Baig, Z., &amp; Doss, R. (2022). Zero trust architecture (ZTA): A comprehensive survey.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Access, 10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57143–57179. doi:10.1109/ACCESS.2022.3159699.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Marri, H., Patel, K., &amp; Agarwal, P. (2024). Machine learning in SIEM systems: Enhancing threat detection capabilities.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Information Forensics and Security, 19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250–270. doi:10.1109/TIFS.2023.3312345.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Hariri, S., Moustafa, N., &amp; Sitnikova, E. (2021). Adversarial machine learning in network intrusion detection: Current status and future challenges.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Computing and Applications, 33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10231–10261. doi:10.1007/s00521-021-05920-0.</a:t>
            </a:r>
          </a:p>
        </p:txBody>
      </p:sp>
    </p:spTree>
    <p:extLst>
      <p:ext uri="{BB962C8B-B14F-4D97-AF65-F5344CB8AC3E}">
        <p14:creationId xmlns:p14="http://schemas.microsoft.com/office/powerpoint/2010/main" val="10674294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8111" y="57813"/>
            <a:ext cx="10224262" cy="1210487"/>
          </a:xfrm>
          <a:prstGeom prst="rect">
            <a:avLst/>
          </a:prstGeom>
        </p:spPr>
        <p:txBody>
          <a:bodyPr vert="horz" wrap="square" lIns="0" tIns="507923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95"/>
              </a:spcBef>
            </a:pPr>
            <a:r>
              <a:rPr spc="235" dirty="0"/>
              <a:t>References</a:t>
            </a:r>
          </a:p>
        </p:txBody>
      </p:sp>
      <p:sp>
        <p:nvSpPr>
          <p:cNvPr id="4" name="object 4"/>
          <p:cNvSpPr/>
          <p:nvPr/>
        </p:nvSpPr>
        <p:spPr>
          <a:xfrm>
            <a:off x="195071" y="6210300"/>
            <a:ext cx="609600" cy="457200"/>
          </a:xfrm>
          <a:custGeom>
            <a:avLst/>
            <a:gdLst/>
            <a:ahLst/>
            <a:cxnLst/>
            <a:rect l="l" t="t" r="r" b="b"/>
            <a:pathLst>
              <a:path w="609600" h="457200">
                <a:moveTo>
                  <a:pt x="304800" y="0"/>
                </a:moveTo>
                <a:lnTo>
                  <a:pt x="250011" y="3683"/>
                </a:lnTo>
                <a:lnTo>
                  <a:pt x="198444" y="14301"/>
                </a:lnTo>
                <a:lnTo>
                  <a:pt x="150960" y="31210"/>
                </a:lnTo>
                <a:lnTo>
                  <a:pt x="108420" y="53764"/>
                </a:lnTo>
                <a:lnTo>
                  <a:pt x="71684" y="81316"/>
                </a:lnTo>
                <a:lnTo>
                  <a:pt x="41613" y="113221"/>
                </a:lnTo>
                <a:lnTo>
                  <a:pt x="19068" y="148834"/>
                </a:lnTo>
                <a:lnTo>
                  <a:pt x="4910" y="187509"/>
                </a:lnTo>
                <a:lnTo>
                  <a:pt x="0" y="228600"/>
                </a:lnTo>
                <a:lnTo>
                  <a:pt x="4910" y="269690"/>
                </a:lnTo>
                <a:lnTo>
                  <a:pt x="19068" y="308365"/>
                </a:lnTo>
                <a:lnTo>
                  <a:pt x="41613" y="343978"/>
                </a:lnTo>
                <a:lnTo>
                  <a:pt x="71684" y="375883"/>
                </a:lnTo>
                <a:lnTo>
                  <a:pt x="108420" y="403435"/>
                </a:lnTo>
                <a:lnTo>
                  <a:pt x="150960" y="425989"/>
                </a:lnTo>
                <a:lnTo>
                  <a:pt x="198444" y="442898"/>
                </a:lnTo>
                <a:lnTo>
                  <a:pt x="250011" y="453516"/>
                </a:lnTo>
                <a:lnTo>
                  <a:pt x="304800" y="457200"/>
                </a:lnTo>
                <a:lnTo>
                  <a:pt x="359588" y="453516"/>
                </a:lnTo>
                <a:lnTo>
                  <a:pt x="411155" y="442898"/>
                </a:lnTo>
                <a:lnTo>
                  <a:pt x="458639" y="425989"/>
                </a:lnTo>
                <a:lnTo>
                  <a:pt x="501179" y="403435"/>
                </a:lnTo>
                <a:lnTo>
                  <a:pt x="537915" y="375883"/>
                </a:lnTo>
                <a:lnTo>
                  <a:pt x="567986" y="343978"/>
                </a:lnTo>
                <a:lnTo>
                  <a:pt x="590531" y="308365"/>
                </a:lnTo>
                <a:lnTo>
                  <a:pt x="604689" y="269690"/>
                </a:lnTo>
                <a:lnTo>
                  <a:pt x="609600" y="228600"/>
                </a:lnTo>
                <a:lnTo>
                  <a:pt x="604689" y="187509"/>
                </a:lnTo>
                <a:lnTo>
                  <a:pt x="590531" y="148834"/>
                </a:lnTo>
                <a:lnTo>
                  <a:pt x="567986" y="113221"/>
                </a:lnTo>
                <a:lnTo>
                  <a:pt x="537915" y="81316"/>
                </a:lnTo>
                <a:lnTo>
                  <a:pt x="501179" y="53764"/>
                </a:lnTo>
                <a:lnTo>
                  <a:pt x="458639" y="31210"/>
                </a:lnTo>
                <a:lnTo>
                  <a:pt x="411155" y="14301"/>
                </a:lnTo>
                <a:lnTo>
                  <a:pt x="359588" y="3683"/>
                </a:lnTo>
                <a:lnTo>
                  <a:pt x="30480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dirty="0"/>
              <a:t>Project</a:t>
            </a:r>
            <a:r>
              <a:rPr spc="-45" dirty="0"/>
              <a:t> </a:t>
            </a:r>
            <a:r>
              <a:rPr dirty="0"/>
              <a:t>Review</a:t>
            </a:r>
            <a:r>
              <a:rPr spc="-30" dirty="0"/>
              <a:t> </a:t>
            </a:r>
            <a:r>
              <a:rPr dirty="0"/>
              <a:t>-</a:t>
            </a:r>
            <a:r>
              <a:rPr spc="-55" dirty="0"/>
              <a:t> </a:t>
            </a:r>
            <a:r>
              <a:rPr spc="-50" dirty="0"/>
              <a:t>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C2BA07-B5E1-A6BE-71D7-F1A7128E8FCC}"/>
              </a:ext>
            </a:extLst>
          </p:cNvPr>
          <p:cNvSpPr txBox="1"/>
          <p:nvPr/>
        </p:nvSpPr>
        <p:spPr>
          <a:xfrm>
            <a:off x="388111" y="1442931"/>
            <a:ext cx="11194289" cy="4191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Schlette, D.,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P., Caselli, M., Schreck, T., &amp;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Pernul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G. (2024). Do you play it by the books? A study on incident response playbooks and influencing factors.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Symposium on Security and Privacy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3625–3643. doi:10.1109/SP54263.2024.00074.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Lin, P.-C., Chiu, Y.-H., &amp; Chen, C.-H. (2019). Endpoint detection and response: A survey and open research issues.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Access, 7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170351–170365. doi:10.1109/ACCESS.2019.2953418.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Guha, S., Mishra, N., Roy, G., &amp;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Schrijvers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O. (2016). Robust Random Cut Forest based anomaly detection on streams.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33rd International Conference on Machine Learning (ICML)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2712–2721.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8718" y="2914436"/>
            <a:ext cx="8916670" cy="102912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z="6600" b="0" spc="-30" dirty="0">
                <a:latin typeface="Times New Roman"/>
                <a:cs typeface="Times New Roman"/>
              </a:rPr>
              <a:t>THANK</a:t>
            </a:r>
            <a:r>
              <a:rPr sz="6600" b="0" spc="-700" dirty="0">
                <a:latin typeface="Times New Roman"/>
                <a:cs typeface="Times New Roman"/>
              </a:rPr>
              <a:t> </a:t>
            </a:r>
            <a:r>
              <a:rPr sz="6600" b="0" spc="-25" dirty="0">
                <a:latin typeface="Times New Roman"/>
                <a:cs typeface="Times New Roman"/>
              </a:rPr>
              <a:t>YOU</a:t>
            </a:r>
            <a:endParaRPr sz="66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95071" y="6210300"/>
            <a:ext cx="609600" cy="457200"/>
          </a:xfrm>
          <a:custGeom>
            <a:avLst/>
            <a:gdLst/>
            <a:ahLst/>
            <a:cxnLst/>
            <a:rect l="l" t="t" r="r" b="b"/>
            <a:pathLst>
              <a:path w="609600" h="457200">
                <a:moveTo>
                  <a:pt x="304800" y="0"/>
                </a:moveTo>
                <a:lnTo>
                  <a:pt x="250011" y="3683"/>
                </a:lnTo>
                <a:lnTo>
                  <a:pt x="198444" y="14301"/>
                </a:lnTo>
                <a:lnTo>
                  <a:pt x="150960" y="31210"/>
                </a:lnTo>
                <a:lnTo>
                  <a:pt x="108420" y="53764"/>
                </a:lnTo>
                <a:lnTo>
                  <a:pt x="71684" y="81316"/>
                </a:lnTo>
                <a:lnTo>
                  <a:pt x="41613" y="113221"/>
                </a:lnTo>
                <a:lnTo>
                  <a:pt x="19068" y="148834"/>
                </a:lnTo>
                <a:lnTo>
                  <a:pt x="4910" y="187509"/>
                </a:lnTo>
                <a:lnTo>
                  <a:pt x="0" y="228600"/>
                </a:lnTo>
                <a:lnTo>
                  <a:pt x="4910" y="269690"/>
                </a:lnTo>
                <a:lnTo>
                  <a:pt x="19068" y="308365"/>
                </a:lnTo>
                <a:lnTo>
                  <a:pt x="41613" y="343978"/>
                </a:lnTo>
                <a:lnTo>
                  <a:pt x="71684" y="375883"/>
                </a:lnTo>
                <a:lnTo>
                  <a:pt x="108420" y="403435"/>
                </a:lnTo>
                <a:lnTo>
                  <a:pt x="150960" y="425989"/>
                </a:lnTo>
                <a:lnTo>
                  <a:pt x="198444" y="442898"/>
                </a:lnTo>
                <a:lnTo>
                  <a:pt x="250011" y="453516"/>
                </a:lnTo>
                <a:lnTo>
                  <a:pt x="304800" y="457200"/>
                </a:lnTo>
                <a:lnTo>
                  <a:pt x="359588" y="453516"/>
                </a:lnTo>
                <a:lnTo>
                  <a:pt x="411155" y="442898"/>
                </a:lnTo>
                <a:lnTo>
                  <a:pt x="458639" y="425989"/>
                </a:lnTo>
                <a:lnTo>
                  <a:pt x="501179" y="403435"/>
                </a:lnTo>
                <a:lnTo>
                  <a:pt x="537915" y="375883"/>
                </a:lnTo>
                <a:lnTo>
                  <a:pt x="567986" y="343978"/>
                </a:lnTo>
                <a:lnTo>
                  <a:pt x="590531" y="308365"/>
                </a:lnTo>
                <a:lnTo>
                  <a:pt x="604689" y="269690"/>
                </a:lnTo>
                <a:lnTo>
                  <a:pt x="609600" y="228600"/>
                </a:lnTo>
                <a:lnTo>
                  <a:pt x="604689" y="187509"/>
                </a:lnTo>
                <a:lnTo>
                  <a:pt x="590531" y="148834"/>
                </a:lnTo>
                <a:lnTo>
                  <a:pt x="567986" y="113221"/>
                </a:lnTo>
                <a:lnTo>
                  <a:pt x="537915" y="81316"/>
                </a:lnTo>
                <a:lnTo>
                  <a:pt x="501179" y="53764"/>
                </a:lnTo>
                <a:lnTo>
                  <a:pt x="458639" y="31210"/>
                </a:lnTo>
                <a:lnTo>
                  <a:pt x="411155" y="14301"/>
                </a:lnTo>
                <a:lnTo>
                  <a:pt x="359588" y="3683"/>
                </a:lnTo>
                <a:lnTo>
                  <a:pt x="30480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39"/>
              </a:lnSpc>
            </a:pPr>
            <a:r>
              <a:rPr dirty="0"/>
              <a:t>Project</a:t>
            </a:r>
            <a:r>
              <a:rPr spc="-45" dirty="0"/>
              <a:t> </a:t>
            </a:r>
            <a:r>
              <a:rPr dirty="0"/>
              <a:t>Review</a:t>
            </a:r>
            <a:r>
              <a:rPr spc="-30" dirty="0"/>
              <a:t> </a:t>
            </a:r>
            <a:r>
              <a:rPr dirty="0"/>
              <a:t>-</a:t>
            </a:r>
            <a:r>
              <a:rPr spc="-55" dirty="0"/>
              <a:t> </a:t>
            </a:r>
            <a:r>
              <a:rPr spc="-50" dirty="0"/>
              <a:t>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388</TotalTime>
  <Words>1616</Words>
  <Application>Microsoft Office PowerPoint</Application>
  <PresentationFormat>Widescreen</PresentationFormat>
  <Paragraphs>138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Arial MT</vt:lpstr>
      <vt:lpstr>Calibri</vt:lpstr>
      <vt:lpstr>Cambria</vt:lpstr>
      <vt:lpstr>Palatino Linotype</vt:lpstr>
      <vt:lpstr>Times New Roman</vt:lpstr>
      <vt:lpstr>Office Theme</vt:lpstr>
      <vt:lpstr>ZenGuard – A Zero Trust, ML-Driven SIEM–SOAR–UEBA Framework</vt:lpstr>
      <vt:lpstr>Abstract</vt:lpstr>
      <vt:lpstr>Base paper Details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Work Flow Diagram</vt:lpstr>
      <vt:lpstr>Architecture Diagram</vt:lpstr>
      <vt:lpstr>Modules</vt:lpstr>
      <vt:lpstr> Dataset Description</vt:lpstr>
      <vt:lpstr>Conclusion</vt:lpstr>
      <vt:lpstr>References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Project - Gokul, Pranav, Harish</dc:title>
  <dc:creator>Gokul; Pranav; Harish</dc:creator>
  <cp:lastModifiedBy>Harish Siddartha</cp:lastModifiedBy>
  <cp:revision>1</cp:revision>
  <dcterms:created xsi:type="dcterms:W3CDTF">2026-01-23T06:09:59Z</dcterms:created>
  <dcterms:modified xsi:type="dcterms:W3CDTF">2026-02-15T17:41:43Z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2024-02-20T00:00:00Z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2026-01-23T00:00:00Z</vt:filetime>
  </property>
  <property fmtid="{D5CDD505-2E9C-101B-9397-08002B2CF9AE}" pid="5" name="Producer">
    <vt:lpwstr>iLovePDF</vt:lpwstr>
  </property>
</Properties>
</file>